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3"/>
  </p:sldMasterIdLst>
  <p:notesMasterIdLst>
    <p:notesMasterId r:id="rId5"/>
  </p:notesMasterIdLst>
  <p:handoutMasterIdLst>
    <p:handoutMasterId r:id="rId43"/>
  </p:handoutMasterIdLst>
  <p:sldIdLst>
    <p:sldId id="256" r:id="rId4"/>
    <p:sldId id="298"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2192000" cy="6858000"/>
  <p:notesSz cx="6858000" cy="9144000"/>
  <p:embeddedFontLst>
    <p:embeddedFont>
      <p:font typeface="Calibri" panose="020F0502020204030204"/>
      <p:regular r:id="rId47"/>
      <p:bold r:id="rId48"/>
      <p:italic r:id="rId49"/>
      <p:boldItalic r:id="rId50"/>
    </p:embeddedFont>
    <p:embeddedFont>
      <p:font typeface="Plus Jakarta Sans SemiBold"/>
      <p:bold r:id="rId51"/>
      <p:boldItalic r:id="rId52"/>
    </p:embeddedFont>
    <p:embeddedFont>
      <p:font typeface="Playfair Display"/>
      <p:regular r:id="rId53"/>
      <p:bold r:id="rId54"/>
      <p:italic r:id="rId55"/>
      <p:boldItalic r:id="rId56"/>
    </p:embeddedFont>
    <p:embeddedFont>
      <p:font typeface="Playfair Display SemiBold"/>
      <p:regular r:id="rId57"/>
      <p:bold r:id="rId58"/>
      <p:italic r:id="rId59"/>
      <p:boldItalic r:id="rId60"/>
    </p:embeddedFont>
    <p:embeddedFont>
      <p:font typeface="Plus Jakarta Sans"/>
      <p:regular r:id="rId61"/>
      <p:bold r:id="rId62"/>
      <p:italic r:id="rId63"/>
      <p:boldItalic r:id="rId64"/>
    </p:embeddedFont>
    <p:embeddedFont>
      <p:font typeface="Lato" panose="020F0502020204030203" charset="0"/>
      <p:regular r:id="rId65"/>
    </p:embeddedFont>
    <p:embeddedFont>
      <p:font typeface="Manrope ExtraBold" charset="0"/>
      <p:bold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663FC6A-6F38-4B7B-9050-8D1B1B5FE652}"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6" Type="http://schemas.openxmlformats.org/officeDocument/2006/relationships/font" Target="fonts/font20.fntdata"/><Relationship Id="rId65" Type="http://schemas.openxmlformats.org/officeDocument/2006/relationships/font" Target="fonts/font19.fntdata"/><Relationship Id="rId64" Type="http://schemas.openxmlformats.org/officeDocument/2006/relationships/font" Target="fonts/font18.fntdata"/><Relationship Id="rId63" Type="http://schemas.openxmlformats.org/officeDocument/2006/relationships/font" Target="fonts/font17.fntdata"/><Relationship Id="rId62" Type="http://schemas.openxmlformats.org/officeDocument/2006/relationships/font" Target="fonts/font16.fntdata"/><Relationship Id="rId61" Type="http://schemas.openxmlformats.org/officeDocument/2006/relationships/font" Target="fonts/font15.fntdata"/><Relationship Id="rId60" Type="http://schemas.openxmlformats.org/officeDocument/2006/relationships/font" Target="fonts/font14.fntdata"/><Relationship Id="rId6" Type="http://schemas.openxmlformats.org/officeDocument/2006/relationships/slide" Target="slides/slide2.xml"/><Relationship Id="rId59" Type="http://schemas.openxmlformats.org/officeDocument/2006/relationships/font" Target="fonts/font13.fntdata"/><Relationship Id="rId58" Type="http://schemas.openxmlformats.org/officeDocument/2006/relationships/font" Target="fonts/font12.fntdata"/><Relationship Id="rId57" Type="http://schemas.openxmlformats.org/officeDocument/2006/relationships/font" Target="fonts/font11.fntdata"/><Relationship Id="rId56" Type="http://schemas.openxmlformats.org/officeDocument/2006/relationships/font" Target="fonts/font10.fntdata"/><Relationship Id="rId55" Type="http://schemas.openxmlformats.org/officeDocument/2006/relationships/font" Target="fonts/font9.fntdata"/><Relationship Id="rId54" Type="http://schemas.openxmlformats.org/officeDocument/2006/relationships/font" Target="fonts/font8.fntdata"/><Relationship Id="rId53" Type="http://schemas.openxmlformats.org/officeDocument/2006/relationships/font" Target="fonts/font7.fntdata"/><Relationship Id="rId52" Type="http://schemas.openxmlformats.org/officeDocument/2006/relationships/font" Target="fonts/font6.fntdata"/><Relationship Id="rId51" Type="http://schemas.openxmlformats.org/officeDocument/2006/relationships/font" Target="fonts/font5.fntdata"/><Relationship Id="rId50" Type="http://schemas.openxmlformats.org/officeDocument/2006/relationships/font" Target="fonts/font4.fntdata"/><Relationship Id="rId5" Type="http://schemas.openxmlformats.org/officeDocument/2006/relationships/notesMaster" Target="notesMasters/notesMaster1.xml"/><Relationship Id="rId49" Type="http://schemas.openxmlformats.org/officeDocument/2006/relationships/font" Target="fonts/font3.fntdata"/><Relationship Id="rId48" Type="http://schemas.openxmlformats.org/officeDocument/2006/relationships/font" Target="fonts/font2.fntdata"/><Relationship Id="rId47" Type="http://schemas.openxmlformats.org/officeDocument/2006/relationships/font" Target="fonts/font1.fntdata"/><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1" name="Google Shape;91;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3" name="Google Shape;113;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8" name="Google Shape;128;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7" name="Shape 167"/>
        <p:cNvGrpSpPr/>
        <p:nvPr/>
      </p:nvGrpSpPr>
      <p:grpSpPr>
        <a:xfrm>
          <a:off x="0" y="0"/>
          <a:ext cx="0" cy="0"/>
          <a:chOff x="0" y="0"/>
          <a:chExt cx="0" cy="0"/>
        </a:xfrm>
      </p:grpSpPr>
      <p:sp>
        <p:nvSpPr>
          <p:cNvPr id="168" name="Google Shape;168;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9" name="Google Shape;169;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6" name="Google Shape;186;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3" name="Google Shape;203;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 name="Shape 218"/>
        <p:cNvGrpSpPr/>
        <p:nvPr/>
      </p:nvGrpSpPr>
      <p:grpSpPr>
        <a:xfrm>
          <a:off x="0" y="0"/>
          <a:ext cx="0" cy="0"/>
          <a:chOff x="0" y="0"/>
          <a:chExt cx="0" cy="0"/>
        </a:xfrm>
      </p:grpSpPr>
      <p:sp>
        <p:nvSpPr>
          <p:cNvPr id="219" name="Google Shape;219;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0" name="Google Shape;220;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0" name="Shape 240"/>
        <p:cNvGrpSpPr/>
        <p:nvPr/>
      </p:nvGrpSpPr>
      <p:grpSpPr>
        <a:xfrm>
          <a:off x="0" y="0"/>
          <a:ext cx="0" cy="0"/>
          <a:chOff x="0" y="0"/>
          <a:chExt cx="0" cy="0"/>
        </a:xfrm>
      </p:grpSpPr>
      <p:sp>
        <p:nvSpPr>
          <p:cNvPr id="241" name="Google Shape;241;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2" name="Google Shape;242;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2" name="Shape 262"/>
        <p:cNvGrpSpPr/>
        <p:nvPr/>
      </p:nvGrpSpPr>
      <p:grpSpPr>
        <a:xfrm>
          <a:off x="0" y="0"/>
          <a:ext cx="0" cy="0"/>
          <a:chOff x="0" y="0"/>
          <a:chExt cx="0" cy="0"/>
        </a:xfrm>
      </p:grpSpPr>
      <p:sp>
        <p:nvSpPr>
          <p:cNvPr id="263" name="Google Shape;263;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4" name="Google Shape;264;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0" name="Google Shape;290;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3" name="Shape 303"/>
        <p:cNvGrpSpPr/>
        <p:nvPr/>
      </p:nvGrpSpPr>
      <p:grpSpPr>
        <a:xfrm>
          <a:off x="0" y="0"/>
          <a:ext cx="0" cy="0"/>
          <a:chOff x="0" y="0"/>
          <a:chExt cx="0" cy="0"/>
        </a:xfrm>
      </p:grpSpPr>
      <p:sp>
        <p:nvSpPr>
          <p:cNvPr id="304" name="Google Shape;304;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2" name="Shape 322"/>
        <p:cNvGrpSpPr/>
        <p:nvPr/>
      </p:nvGrpSpPr>
      <p:grpSpPr>
        <a:xfrm>
          <a:off x="0" y="0"/>
          <a:ext cx="0" cy="0"/>
          <a:chOff x="0" y="0"/>
          <a:chExt cx="0" cy="0"/>
        </a:xfrm>
      </p:grpSpPr>
      <p:sp>
        <p:nvSpPr>
          <p:cNvPr id="323" name="Google Shape;323;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24" name="Google Shape;324;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7" name="Shape 337"/>
        <p:cNvGrpSpPr/>
        <p:nvPr/>
      </p:nvGrpSpPr>
      <p:grpSpPr>
        <a:xfrm>
          <a:off x="0" y="0"/>
          <a:ext cx="0" cy="0"/>
          <a:chOff x="0" y="0"/>
          <a:chExt cx="0" cy="0"/>
        </a:xfrm>
      </p:grpSpPr>
      <p:sp>
        <p:nvSpPr>
          <p:cNvPr id="338" name="Google Shape;338;p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39" name="Google Shape;339;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2" name="Shape 352"/>
        <p:cNvGrpSpPr/>
        <p:nvPr/>
      </p:nvGrpSpPr>
      <p:grpSpPr>
        <a:xfrm>
          <a:off x="0" y="0"/>
          <a:ext cx="0" cy="0"/>
          <a:chOff x="0" y="0"/>
          <a:chExt cx="0" cy="0"/>
        </a:xfrm>
      </p:grpSpPr>
      <p:sp>
        <p:nvSpPr>
          <p:cNvPr id="353" name="Google Shape;353;p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54" name="Google Shape;354;p1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7" name="Shape 367"/>
        <p:cNvGrpSpPr/>
        <p:nvPr/>
      </p:nvGrpSpPr>
      <p:grpSpPr>
        <a:xfrm>
          <a:off x="0" y="0"/>
          <a:ext cx="0" cy="0"/>
          <a:chOff x="0" y="0"/>
          <a:chExt cx="0" cy="0"/>
        </a:xfrm>
      </p:grpSpPr>
      <p:sp>
        <p:nvSpPr>
          <p:cNvPr id="368" name="Google Shape;368;p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69" name="Google Shape;369;p1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3" name="Shape 383"/>
        <p:cNvGrpSpPr/>
        <p:nvPr/>
      </p:nvGrpSpPr>
      <p:grpSpPr>
        <a:xfrm>
          <a:off x="0" y="0"/>
          <a:ext cx="0" cy="0"/>
          <a:chOff x="0" y="0"/>
          <a:chExt cx="0" cy="0"/>
        </a:xfrm>
      </p:grpSpPr>
      <p:sp>
        <p:nvSpPr>
          <p:cNvPr id="384" name="Google Shape;384;p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85" name="Google Shape;385;p1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2" name="Shape 402"/>
        <p:cNvGrpSpPr/>
        <p:nvPr/>
      </p:nvGrpSpPr>
      <p:grpSpPr>
        <a:xfrm>
          <a:off x="0" y="0"/>
          <a:ext cx="0" cy="0"/>
          <a:chOff x="0" y="0"/>
          <a:chExt cx="0" cy="0"/>
        </a:xfrm>
      </p:grpSpPr>
      <p:sp>
        <p:nvSpPr>
          <p:cNvPr id="403" name="Google Shape;403;p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04" name="Google Shape;404;p1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7" name="Shape 417"/>
        <p:cNvGrpSpPr/>
        <p:nvPr/>
      </p:nvGrpSpPr>
      <p:grpSpPr>
        <a:xfrm>
          <a:off x="0" y="0"/>
          <a:ext cx="0" cy="0"/>
          <a:chOff x="0" y="0"/>
          <a:chExt cx="0" cy="0"/>
        </a:xfrm>
      </p:grpSpPr>
      <p:sp>
        <p:nvSpPr>
          <p:cNvPr id="418" name="Google Shape;418;p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19" name="Google Shape;419;p2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6" name="Shape 436"/>
        <p:cNvGrpSpPr/>
        <p:nvPr/>
      </p:nvGrpSpPr>
      <p:grpSpPr>
        <a:xfrm>
          <a:off x="0" y="0"/>
          <a:ext cx="0" cy="0"/>
          <a:chOff x="0" y="0"/>
          <a:chExt cx="0" cy="0"/>
        </a:xfrm>
      </p:grpSpPr>
      <p:sp>
        <p:nvSpPr>
          <p:cNvPr id="437" name="Google Shape;437;p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38" name="Google Shape;438;p2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2" name="Shape 462"/>
        <p:cNvGrpSpPr/>
        <p:nvPr/>
      </p:nvGrpSpPr>
      <p:grpSpPr>
        <a:xfrm>
          <a:off x="0" y="0"/>
          <a:ext cx="0" cy="0"/>
          <a:chOff x="0" y="0"/>
          <a:chExt cx="0" cy="0"/>
        </a:xfrm>
      </p:grpSpPr>
      <p:sp>
        <p:nvSpPr>
          <p:cNvPr id="463" name="Google Shape;463;p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4" name="Google Shape;464;p2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7" name="Shape 477"/>
        <p:cNvGrpSpPr/>
        <p:nvPr/>
      </p:nvGrpSpPr>
      <p:grpSpPr>
        <a:xfrm>
          <a:off x="0" y="0"/>
          <a:ext cx="0" cy="0"/>
          <a:chOff x="0" y="0"/>
          <a:chExt cx="0" cy="0"/>
        </a:xfrm>
      </p:grpSpPr>
      <p:sp>
        <p:nvSpPr>
          <p:cNvPr id="478" name="Google Shape;478;p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79" name="Google Shape;479;p2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9" name="Shape 489"/>
        <p:cNvGrpSpPr/>
        <p:nvPr/>
      </p:nvGrpSpPr>
      <p:grpSpPr>
        <a:xfrm>
          <a:off x="0" y="0"/>
          <a:ext cx="0" cy="0"/>
          <a:chOff x="0" y="0"/>
          <a:chExt cx="0" cy="0"/>
        </a:xfrm>
      </p:grpSpPr>
      <p:sp>
        <p:nvSpPr>
          <p:cNvPr id="490" name="Google Shape;490;p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91" name="Google Shape;491;p2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0" name="Shape 510"/>
        <p:cNvGrpSpPr/>
        <p:nvPr/>
      </p:nvGrpSpPr>
      <p:grpSpPr>
        <a:xfrm>
          <a:off x="0" y="0"/>
          <a:ext cx="0" cy="0"/>
          <a:chOff x="0" y="0"/>
          <a:chExt cx="0" cy="0"/>
        </a:xfrm>
      </p:grpSpPr>
      <p:sp>
        <p:nvSpPr>
          <p:cNvPr id="511" name="Google Shape;511;p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12" name="Google Shape;512;p2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7" name="Shape 527"/>
        <p:cNvGrpSpPr/>
        <p:nvPr/>
      </p:nvGrpSpPr>
      <p:grpSpPr>
        <a:xfrm>
          <a:off x="0" y="0"/>
          <a:ext cx="0" cy="0"/>
          <a:chOff x="0" y="0"/>
          <a:chExt cx="0" cy="0"/>
        </a:xfrm>
      </p:grpSpPr>
      <p:sp>
        <p:nvSpPr>
          <p:cNvPr id="528" name="Google Shape;528;p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29" name="Google Shape;529;p2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4" name="Shape 544"/>
        <p:cNvGrpSpPr/>
        <p:nvPr/>
      </p:nvGrpSpPr>
      <p:grpSpPr>
        <a:xfrm>
          <a:off x="0" y="0"/>
          <a:ext cx="0" cy="0"/>
          <a:chOff x="0" y="0"/>
          <a:chExt cx="0" cy="0"/>
        </a:xfrm>
      </p:grpSpPr>
      <p:sp>
        <p:nvSpPr>
          <p:cNvPr id="545" name="Google Shape;545;p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46" name="Google Shape;546;p2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1" name="Shape 561"/>
        <p:cNvGrpSpPr/>
        <p:nvPr/>
      </p:nvGrpSpPr>
      <p:grpSpPr>
        <a:xfrm>
          <a:off x="0" y="0"/>
          <a:ext cx="0" cy="0"/>
          <a:chOff x="0" y="0"/>
          <a:chExt cx="0" cy="0"/>
        </a:xfrm>
      </p:grpSpPr>
      <p:sp>
        <p:nvSpPr>
          <p:cNvPr id="562" name="Google Shape;562;p2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63" name="Google Shape;563;p2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7" name="Shape 577"/>
        <p:cNvGrpSpPr/>
        <p:nvPr/>
      </p:nvGrpSpPr>
      <p:grpSpPr>
        <a:xfrm>
          <a:off x="0" y="0"/>
          <a:ext cx="0" cy="0"/>
          <a:chOff x="0" y="0"/>
          <a:chExt cx="0" cy="0"/>
        </a:xfrm>
      </p:grpSpPr>
      <p:sp>
        <p:nvSpPr>
          <p:cNvPr id="578" name="Google Shape;578;p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79" name="Google Shape;579;p2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3" name="Shape 593"/>
        <p:cNvGrpSpPr/>
        <p:nvPr/>
      </p:nvGrpSpPr>
      <p:grpSpPr>
        <a:xfrm>
          <a:off x="0" y="0"/>
          <a:ext cx="0" cy="0"/>
          <a:chOff x="0" y="0"/>
          <a:chExt cx="0" cy="0"/>
        </a:xfrm>
      </p:grpSpPr>
      <p:sp>
        <p:nvSpPr>
          <p:cNvPr id="594" name="Google Shape;594;p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95" name="Google Shape;595;p3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0" name="Shape 610"/>
        <p:cNvGrpSpPr/>
        <p:nvPr/>
      </p:nvGrpSpPr>
      <p:grpSpPr>
        <a:xfrm>
          <a:off x="0" y="0"/>
          <a:ext cx="0" cy="0"/>
          <a:chOff x="0" y="0"/>
          <a:chExt cx="0" cy="0"/>
        </a:xfrm>
      </p:grpSpPr>
      <p:sp>
        <p:nvSpPr>
          <p:cNvPr id="611" name="Google Shape;611;p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12" name="Google Shape;612;p3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9" name="Shape 629"/>
        <p:cNvGrpSpPr/>
        <p:nvPr/>
      </p:nvGrpSpPr>
      <p:grpSpPr>
        <a:xfrm>
          <a:off x="0" y="0"/>
          <a:ext cx="0" cy="0"/>
          <a:chOff x="0" y="0"/>
          <a:chExt cx="0" cy="0"/>
        </a:xfrm>
      </p:grpSpPr>
      <p:sp>
        <p:nvSpPr>
          <p:cNvPr id="630" name="Google Shape;630;p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31" name="Google Shape;631;p3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4" name="Shape 644"/>
        <p:cNvGrpSpPr/>
        <p:nvPr/>
      </p:nvGrpSpPr>
      <p:grpSpPr>
        <a:xfrm>
          <a:off x="0" y="0"/>
          <a:ext cx="0" cy="0"/>
          <a:chOff x="0" y="0"/>
          <a:chExt cx="0" cy="0"/>
        </a:xfrm>
      </p:grpSpPr>
      <p:sp>
        <p:nvSpPr>
          <p:cNvPr id="645" name="Google Shape;645;p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46" name="Google Shape;646;p3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6" name="Shape 666"/>
        <p:cNvGrpSpPr/>
        <p:nvPr/>
      </p:nvGrpSpPr>
      <p:grpSpPr>
        <a:xfrm>
          <a:off x="0" y="0"/>
          <a:ext cx="0" cy="0"/>
          <a:chOff x="0" y="0"/>
          <a:chExt cx="0" cy="0"/>
        </a:xfrm>
      </p:grpSpPr>
      <p:sp>
        <p:nvSpPr>
          <p:cNvPr id="667" name="Google Shape;667;p3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68" name="Google Shape;668;p3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3" name="Shape 683"/>
        <p:cNvGrpSpPr/>
        <p:nvPr/>
      </p:nvGrpSpPr>
      <p:grpSpPr>
        <a:xfrm>
          <a:off x="0" y="0"/>
          <a:ext cx="0" cy="0"/>
          <a:chOff x="0" y="0"/>
          <a:chExt cx="0" cy="0"/>
        </a:xfrm>
      </p:grpSpPr>
      <p:sp>
        <p:nvSpPr>
          <p:cNvPr id="684" name="Google Shape;684;p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85" name="Google Shape;685;p3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8" name="Shape 698"/>
        <p:cNvGrpSpPr/>
        <p:nvPr/>
      </p:nvGrpSpPr>
      <p:grpSpPr>
        <a:xfrm>
          <a:off x="0" y="0"/>
          <a:ext cx="0" cy="0"/>
          <a:chOff x="0" y="0"/>
          <a:chExt cx="0" cy="0"/>
        </a:xfrm>
      </p:grpSpPr>
      <p:sp>
        <p:nvSpPr>
          <p:cNvPr id="699" name="Google Shape;699;p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00" name="Google Shape;700;p3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3" name="Shape 713"/>
        <p:cNvGrpSpPr/>
        <p:nvPr/>
      </p:nvGrpSpPr>
      <p:grpSpPr>
        <a:xfrm>
          <a:off x="0" y="0"/>
          <a:ext cx="0" cy="0"/>
          <a:chOff x="0" y="0"/>
          <a:chExt cx="0" cy="0"/>
        </a:xfrm>
      </p:grpSpPr>
      <p:sp>
        <p:nvSpPr>
          <p:cNvPr id="714" name="Google Shape;714;p3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15" name="Google Shape;715;p3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image" Target="../media/image3.png"/><Relationship Id="rId10" Type="http://schemas.openxmlformats.org/officeDocument/2006/relationships/tags" Target="../tags/tag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1" cy="6858000"/>
          </a:xfrm>
          <a:prstGeom prst="rect">
            <a:avLst/>
          </a:prstGeom>
          <a:gradFill flip="none" rotWithShape="1">
            <a:gsLst>
              <a:gs pos="0">
                <a:schemeClr val="bg1"/>
              </a:gs>
              <a:gs pos="100000">
                <a:schemeClr val="bg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spcBef>
                <a:spcPct val="0"/>
              </a:spcBef>
              <a:spcAft>
                <a:spcPct val="0"/>
              </a:spcAft>
            </a:pPr>
            <a:endParaRPr lang="en-US" sz="1800" kern="1200">
              <a:sym typeface="+mn-ea"/>
            </a:endParaRPr>
          </a:p>
        </p:txBody>
      </p:sp>
      <p:sp>
        <p:nvSpPr>
          <p:cNvPr id="9" name="椭圆 8"/>
          <p:cNvSpPr/>
          <p:nvPr userDrawn="1">
            <p:custDataLst>
              <p:tags r:id="rId3"/>
            </p:custDataLst>
          </p:nvPr>
        </p:nvSpPr>
        <p:spPr>
          <a:xfrm>
            <a:off x="1372418" y="5112231"/>
            <a:ext cx="398124" cy="398124"/>
          </a:xfrm>
          <a:prstGeom prst="ellipse">
            <a:avLst/>
          </a:prstGeom>
          <a:solidFill>
            <a:schemeClr val="accent1">
              <a:lumMod val="75000"/>
            </a:schemeClr>
          </a:solidFill>
          <a:ln w="222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spcBef>
                <a:spcPct val="0"/>
              </a:spcBef>
              <a:spcAft>
                <a:spcPct val="0"/>
              </a:spcAft>
            </a:pPr>
            <a:endParaRPr lang="en-US" sz="1800" kern="1200">
              <a:sym typeface="+mn-ea"/>
            </a:endParaRPr>
          </a:p>
        </p:txBody>
      </p:sp>
      <p:pic>
        <p:nvPicPr>
          <p:cNvPr id="11" name="图形 799"/>
          <p:cNvPicPr>
            <a:picLocks noChangeAspect="1"/>
          </p:cNvPicPr>
          <p:nvPr userDrawn="1">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rot="16200000">
            <a:off x="1498053" y="5242711"/>
            <a:ext cx="159976" cy="135786"/>
          </a:xfrm>
          <a:prstGeom prst="rect">
            <a:avLst/>
          </a:prstGeom>
        </p:spPr>
      </p:pic>
      <p:sp>
        <p:nvSpPr>
          <p:cNvPr id="12" name="任意多边形: 形状 11"/>
          <p:cNvSpPr/>
          <p:nvPr userDrawn="1">
            <p:custDataLst>
              <p:tags r:id="rId7"/>
            </p:custDataLst>
          </p:nvPr>
        </p:nvSpPr>
        <p:spPr>
          <a:xfrm rot="5400000" flipV="1">
            <a:off x="11429928" y="726785"/>
            <a:ext cx="219788" cy="58431"/>
          </a:xfrm>
          <a:custGeom>
            <a:avLst/>
            <a:gdLst>
              <a:gd name="connsiteX0" fmla="*/ 437468 w 504535"/>
              <a:gd name="connsiteY0" fmla="*/ 0 h 134134"/>
              <a:gd name="connsiteX1" fmla="*/ 504535 w 504535"/>
              <a:gd name="connsiteY1" fmla="*/ 67067 h 134134"/>
              <a:gd name="connsiteX2" fmla="*/ 437468 w 504535"/>
              <a:gd name="connsiteY2" fmla="*/ 134134 h 134134"/>
              <a:gd name="connsiteX3" fmla="*/ 370401 w 504535"/>
              <a:gd name="connsiteY3" fmla="*/ 67067 h 134134"/>
              <a:gd name="connsiteX4" fmla="*/ 437468 w 504535"/>
              <a:gd name="connsiteY4" fmla="*/ 0 h 134134"/>
              <a:gd name="connsiteX5" fmla="*/ 252267 w 504535"/>
              <a:gd name="connsiteY5" fmla="*/ 0 h 134134"/>
              <a:gd name="connsiteX6" fmla="*/ 319334 w 504535"/>
              <a:gd name="connsiteY6" fmla="*/ 67067 h 134134"/>
              <a:gd name="connsiteX7" fmla="*/ 252267 w 504535"/>
              <a:gd name="connsiteY7" fmla="*/ 134134 h 134134"/>
              <a:gd name="connsiteX8" fmla="*/ 185200 w 504535"/>
              <a:gd name="connsiteY8" fmla="*/ 67067 h 134134"/>
              <a:gd name="connsiteX9" fmla="*/ 252267 w 504535"/>
              <a:gd name="connsiteY9" fmla="*/ 0 h 134134"/>
              <a:gd name="connsiteX10" fmla="*/ 67067 w 504535"/>
              <a:gd name="connsiteY10" fmla="*/ 0 h 134134"/>
              <a:gd name="connsiteX11" fmla="*/ 134134 w 504535"/>
              <a:gd name="connsiteY11" fmla="*/ 67067 h 134134"/>
              <a:gd name="connsiteX12" fmla="*/ 67067 w 504535"/>
              <a:gd name="connsiteY12" fmla="*/ 134134 h 134134"/>
              <a:gd name="connsiteX13" fmla="*/ 0 w 504535"/>
              <a:gd name="connsiteY13" fmla="*/ 67067 h 134134"/>
              <a:gd name="connsiteX14" fmla="*/ 67067 w 504535"/>
              <a:gd name="connsiteY14" fmla="*/ 0 h 13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4535" h="134134">
                <a:moveTo>
                  <a:pt x="437468" y="0"/>
                </a:moveTo>
                <a:cubicBezTo>
                  <a:pt x="474508" y="0"/>
                  <a:pt x="504535" y="30027"/>
                  <a:pt x="504535" y="67067"/>
                </a:cubicBezTo>
                <a:cubicBezTo>
                  <a:pt x="504535" y="104107"/>
                  <a:pt x="474508" y="134134"/>
                  <a:pt x="437468" y="134134"/>
                </a:cubicBezTo>
                <a:cubicBezTo>
                  <a:pt x="400428" y="134134"/>
                  <a:pt x="370401" y="104107"/>
                  <a:pt x="370401" y="67067"/>
                </a:cubicBezTo>
                <a:cubicBezTo>
                  <a:pt x="370401" y="30027"/>
                  <a:pt x="400428" y="0"/>
                  <a:pt x="437468" y="0"/>
                </a:cubicBezTo>
                <a:close/>
                <a:moveTo>
                  <a:pt x="252267" y="0"/>
                </a:moveTo>
                <a:cubicBezTo>
                  <a:pt x="289307" y="0"/>
                  <a:pt x="319334" y="30027"/>
                  <a:pt x="319334" y="67067"/>
                </a:cubicBezTo>
                <a:cubicBezTo>
                  <a:pt x="319334" y="104107"/>
                  <a:pt x="289307" y="134134"/>
                  <a:pt x="252267" y="134134"/>
                </a:cubicBezTo>
                <a:cubicBezTo>
                  <a:pt x="215227" y="134134"/>
                  <a:pt x="185200" y="104107"/>
                  <a:pt x="185200" y="67067"/>
                </a:cubicBezTo>
                <a:cubicBezTo>
                  <a:pt x="185200" y="30027"/>
                  <a:pt x="215227" y="0"/>
                  <a:pt x="252267" y="0"/>
                </a:cubicBezTo>
                <a:close/>
                <a:moveTo>
                  <a:pt x="67067" y="0"/>
                </a:moveTo>
                <a:cubicBezTo>
                  <a:pt x="104107" y="0"/>
                  <a:pt x="134134" y="30027"/>
                  <a:pt x="134134" y="67067"/>
                </a:cubicBezTo>
                <a:cubicBezTo>
                  <a:pt x="134134" y="104107"/>
                  <a:pt x="104107" y="134134"/>
                  <a:pt x="67067" y="134134"/>
                </a:cubicBezTo>
                <a:cubicBezTo>
                  <a:pt x="30027" y="134134"/>
                  <a:pt x="0" y="104107"/>
                  <a:pt x="0" y="67067"/>
                </a:cubicBezTo>
                <a:cubicBezTo>
                  <a:pt x="0" y="30027"/>
                  <a:pt x="30027" y="0"/>
                  <a:pt x="67067"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a:spcBef>
                <a:spcPct val="0"/>
              </a:spcBef>
              <a:spcAft>
                <a:spcPct val="0"/>
              </a:spcAft>
            </a:pPr>
            <a:endParaRPr lang="en-US" sz="1800" kern="1200">
              <a:solidFill>
                <a:schemeClr val="tx2"/>
              </a:solidFill>
              <a:sym typeface="+mn-ea"/>
            </a:endParaRPr>
          </a:p>
        </p:txBody>
      </p:sp>
      <p:sp>
        <p:nvSpPr>
          <p:cNvPr id="13" name="任意多边形: 形状 12"/>
          <p:cNvSpPr/>
          <p:nvPr userDrawn="1">
            <p:custDataLst>
              <p:tags r:id="rId8"/>
            </p:custDataLst>
          </p:nvPr>
        </p:nvSpPr>
        <p:spPr>
          <a:xfrm>
            <a:off x="7779158" y="1473343"/>
            <a:ext cx="4412842" cy="5384657"/>
          </a:xfrm>
          <a:custGeom>
            <a:avLst/>
            <a:gdLst>
              <a:gd name="connsiteX0" fmla="*/ 4412842 w 4412842"/>
              <a:gd name="connsiteY0" fmla="*/ 0 h 5384657"/>
              <a:gd name="connsiteX1" fmla="*/ 4412842 w 4412842"/>
              <a:gd name="connsiteY1" fmla="*/ 1850003 h 5384657"/>
              <a:gd name="connsiteX2" fmla="*/ 4412117 w 4412842"/>
              <a:gd name="connsiteY2" fmla="*/ 1850058 h 5384657"/>
              <a:gd name="connsiteX3" fmla="*/ 1845184 w 4412842"/>
              <a:gd name="connsiteY3" fmla="*/ 4694574 h 5384657"/>
              <a:gd name="connsiteX4" fmla="*/ 1903274 w 4412842"/>
              <a:gd name="connsiteY4" fmla="*/ 5270819 h 5384657"/>
              <a:gd name="connsiteX5" fmla="*/ 1932545 w 4412842"/>
              <a:gd name="connsiteY5" fmla="*/ 5384657 h 5384657"/>
              <a:gd name="connsiteX6" fmla="*/ 50857 w 4412842"/>
              <a:gd name="connsiteY6" fmla="*/ 5384657 h 5384657"/>
              <a:gd name="connsiteX7" fmla="*/ 24289 w 4412842"/>
              <a:gd name="connsiteY7" fmla="*/ 5175578 h 5384657"/>
              <a:gd name="connsiteX8" fmla="*/ 0 w 4412842"/>
              <a:gd name="connsiteY8" fmla="*/ 4694574 h 5384657"/>
              <a:gd name="connsiteX9" fmla="*/ 4223458 w 4412842"/>
              <a:gd name="connsiteY9" fmla="*/ 14401 h 5384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12842" h="5384657">
                <a:moveTo>
                  <a:pt x="4412842" y="0"/>
                </a:moveTo>
                <a:lnTo>
                  <a:pt x="4412842" y="1850003"/>
                </a:lnTo>
                <a:lnTo>
                  <a:pt x="4412117" y="1850058"/>
                </a:lnTo>
                <a:cubicBezTo>
                  <a:pt x="2970309" y="1996482"/>
                  <a:pt x="1845184" y="3214134"/>
                  <a:pt x="1845184" y="4694574"/>
                </a:cubicBezTo>
                <a:cubicBezTo>
                  <a:pt x="1845184" y="4891966"/>
                  <a:pt x="1865186" y="5084687"/>
                  <a:pt x="1903274" y="5270819"/>
                </a:cubicBezTo>
                <a:lnTo>
                  <a:pt x="1932545" y="5384657"/>
                </a:lnTo>
                <a:lnTo>
                  <a:pt x="50857" y="5384657"/>
                </a:lnTo>
                <a:lnTo>
                  <a:pt x="24289" y="5175578"/>
                </a:lnTo>
                <a:cubicBezTo>
                  <a:pt x="8228" y="5017428"/>
                  <a:pt x="0" y="4856962"/>
                  <a:pt x="0" y="4694574"/>
                </a:cubicBezTo>
                <a:cubicBezTo>
                  <a:pt x="0" y="2258759"/>
                  <a:pt x="1851204" y="255316"/>
                  <a:pt x="4223458" y="14401"/>
                </a:cubicBezTo>
                <a:close/>
              </a:path>
            </a:pathLst>
          </a:custGeom>
          <a:gradFill>
            <a:gsLst>
              <a:gs pos="0">
                <a:schemeClr val="accent1"/>
              </a:gs>
              <a:gs pos="100000">
                <a:schemeClr val="accent1">
                  <a:lumMod val="20000"/>
                  <a:lumOff val="8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a:spcBef>
                <a:spcPct val="0"/>
              </a:spcBef>
              <a:spcAft>
                <a:spcPct val="0"/>
              </a:spcAft>
            </a:pPr>
            <a:endParaRPr lang="en-US" sz="1800" kern="1200">
              <a:solidFill>
                <a:schemeClr val="tx1"/>
              </a:solidFill>
              <a:sym typeface="+mn-ea"/>
            </a:endParaRPr>
          </a:p>
        </p:txBody>
      </p:sp>
      <p:sp>
        <p:nvSpPr>
          <p:cNvPr id="15" name="任意多边形: 形状 14"/>
          <p:cNvSpPr/>
          <p:nvPr userDrawn="1">
            <p:custDataLst>
              <p:tags r:id="rId9"/>
            </p:custDataLst>
          </p:nvPr>
        </p:nvSpPr>
        <p:spPr>
          <a:xfrm>
            <a:off x="0" y="0"/>
            <a:ext cx="1260916" cy="1258221"/>
          </a:xfrm>
          <a:custGeom>
            <a:avLst/>
            <a:gdLst>
              <a:gd name="connsiteX0" fmla="*/ 916162 w 1457748"/>
              <a:gd name="connsiteY0" fmla="*/ 0 h 1454632"/>
              <a:gd name="connsiteX1" fmla="*/ 1457748 w 1457748"/>
              <a:gd name="connsiteY1" fmla="*/ 0 h 1454632"/>
              <a:gd name="connsiteX2" fmla="*/ 1450387 w 1457748"/>
              <a:gd name="connsiteY2" fmla="*/ 145781 h 1454632"/>
              <a:gd name="connsiteX3" fmla="*/ 0 w 1457748"/>
              <a:gd name="connsiteY3" fmla="*/ 1454632 h 1454632"/>
              <a:gd name="connsiteX4" fmla="*/ 0 w 1457748"/>
              <a:gd name="connsiteY4" fmla="*/ 913046 h 1454632"/>
              <a:gd name="connsiteX5" fmla="*/ 911597 w 1457748"/>
              <a:gd name="connsiteY5" fmla="*/ 90407 h 1454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7748" h="1454632">
                <a:moveTo>
                  <a:pt x="916162" y="0"/>
                </a:moveTo>
                <a:lnTo>
                  <a:pt x="1457748" y="0"/>
                </a:lnTo>
                <a:lnTo>
                  <a:pt x="1450387" y="145781"/>
                </a:lnTo>
                <a:cubicBezTo>
                  <a:pt x="1375727" y="880944"/>
                  <a:pt x="754860" y="1454632"/>
                  <a:pt x="0" y="1454632"/>
                </a:cubicBezTo>
                <a:lnTo>
                  <a:pt x="0" y="913046"/>
                </a:lnTo>
                <a:cubicBezTo>
                  <a:pt x="474444" y="913046"/>
                  <a:pt x="864672" y="552471"/>
                  <a:pt x="911597" y="90407"/>
                </a:cubicBezTo>
                <a:close/>
              </a:path>
            </a:pathLst>
          </a:custGeom>
          <a:gradFill>
            <a:gsLst>
              <a:gs pos="0">
                <a:schemeClr val="accent1">
                  <a:lumMod val="40000"/>
                  <a:lumOff val="60000"/>
                  <a:alpha val="0"/>
                </a:schemeClr>
              </a:gs>
              <a:gs pos="100000">
                <a:schemeClr val="accent1">
                  <a:lumMod val="20000"/>
                  <a:lumOff val="8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a:spcBef>
                <a:spcPct val="0"/>
              </a:spcBef>
              <a:spcAft>
                <a:spcPct val="0"/>
              </a:spcAft>
            </a:pPr>
            <a:endParaRPr lang="en-US" sz="1800" kern="1200">
              <a:solidFill>
                <a:schemeClr val="tx1"/>
              </a:solidFill>
              <a:sym typeface="+mn-ea"/>
            </a:endParaRPr>
          </a:p>
        </p:txBody>
      </p:sp>
      <p:pic>
        <p:nvPicPr>
          <p:cNvPr id="17" name="图片 16"/>
          <p:cNvPicPr>
            <a:picLocks noChangeAspect="1"/>
          </p:cNvPicPr>
          <p:nvPr userDrawn="1">
            <p:custDataLst>
              <p:tags r:id="rId10"/>
            </p:custDataLst>
          </p:nvPr>
        </p:nvPicPr>
        <p:blipFill rotWithShape="1">
          <a:blip r:embed="rId11"/>
          <a:srcRect l="15079" t="17171" r="45790" b="7436"/>
          <a:stretch>
            <a:fillRect/>
          </a:stretch>
        </p:blipFill>
        <p:spPr>
          <a:xfrm>
            <a:off x="7287854" y="1282190"/>
            <a:ext cx="3773318" cy="4545898"/>
          </a:xfrm>
          <a:prstGeom prst="rect">
            <a:avLst/>
          </a:prstGeom>
          <a:effectLst/>
        </p:spPr>
      </p:pic>
      <p:sp>
        <p:nvSpPr>
          <p:cNvPr id="4" name="日期占位符 3"/>
          <p:cNvSpPr>
            <a:spLocks noGrp="1"/>
          </p:cNvSpPr>
          <p:nvPr>
            <p:ph type="dt" sz="half" idx="10"/>
            <p:custDataLst>
              <p:tags r:id="rId12"/>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13"/>
            </p:custDataLst>
          </p:nvPr>
        </p:nvSpPr>
        <p:spPr/>
        <p:txBody>
          <a:bodyPr>
            <a:normAutofit/>
          </a:bodyPr>
          <a:lstStyle/>
          <a:p>
            <a:endParaRPr lang="en-US" dirty="0"/>
          </a:p>
        </p:txBody>
      </p:sp>
      <p:sp>
        <p:nvSpPr>
          <p:cNvPr id="6" name="灯片编号占位符 5"/>
          <p:cNvSpPr>
            <a:spLocks noGrp="1"/>
          </p:cNvSpPr>
          <p:nvPr>
            <p:ph type="sldNum" sz="quarter" idx="12"/>
            <p:custDataLst>
              <p:tags r:id="rId14"/>
            </p:custDataLst>
          </p:nvPr>
        </p:nvSpPr>
        <p:spPr>
          <a:xfrm>
            <a:off x="8610600" y="6356350"/>
            <a:ext cx="2743200" cy="365125"/>
          </a:xfrm>
        </p:spPr>
        <p:txBody>
          <a:bodyPr wrap="square">
            <a:normAutofit/>
          </a:bodyPr>
          <a:lstStyle/>
          <a:p>
            <a:fld id="{BE5F26B5-172A-4DC2-B0B7-181CFC56B87C}" type="slidenum">
              <a:rPr lang="en-US" smtClean="0"/>
            </a:fld>
            <a:endParaRPr lang="en-US"/>
          </a:p>
        </p:txBody>
      </p:sp>
      <p:sp>
        <p:nvSpPr>
          <p:cNvPr id="10" name="公司名占位符 6"/>
          <p:cNvSpPr>
            <a:spLocks noGrp="1"/>
          </p:cNvSpPr>
          <p:nvPr>
            <p:ph type="body" sz="quarter" idx="13" hasCustomPrompt="1"/>
            <p:custDataLst>
              <p:tags r:id="rId15"/>
            </p:custDataLst>
          </p:nvPr>
        </p:nvSpPr>
        <p:spPr>
          <a:xfrm>
            <a:off x="1239765" y="504000"/>
            <a:ext cx="2880000" cy="504000"/>
          </a:xfrm>
        </p:spPr>
        <p:txBody>
          <a:bodyPr wrap="square" anchor="ctr">
            <a:normAutofit/>
          </a:bodyPr>
          <a:lstStyle>
            <a:lvl1pPr marL="0" indent="0">
              <a:lnSpc>
                <a:spcPct val="100000"/>
              </a:lnSpc>
              <a:buNone/>
              <a:defRPr sz="1800">
                <a:solidFill>
                  <a:schemeClr val="tx1">
                    <a:alpha val="70000"/>
                  </a:schemeClr>
                </a:solidFill>
                <a:latin typeface="+mn-lt"/>
              </a:defRPr>
            </a:lvl1pPr>
          </a:lstStyle>
          <a:p>
            <a:pPr lvl="0"/>
            <a:r>
              <a:rPr lang="en-US" dirty="0">
                <a:latin typeface="+mn-lt"/>
              </a:rPr>
              <a:t>Click to add text</a:t>
            </a:r>
            <a:endParaRPr lang="en-US" dirty="0"/>
          </a:p>
        </p:txBody>
      </p:sp>
      <p:sp>
        <p:nvSpPr>
          <p:cNvPr id="18" name="年号占位符 8"/>
          <p:cNvSpPr>
            <a:spLocks noGrp="1"/>
          </p:cNvSpPr>
          <p:nvPr>
            <p:ph type="body" sz="quarter" idx="15" hasCustomPrompt="1"/>
            <p:custDataLst>
              <p:tags r:id="rId16"/>
            </p:custDataLst>
          </p:nvPr>
        </p:nvSpPr>
        <p:spPr>
          <a:xfrm>
            <a:off x="8473800" y="504000"/>
            <a:ext cx="2880000" cy="504000"/>
          </a:xfrm>
        </p:spPr>
        <p:txBody>
          <a:bodyPr wrap="square" anchor="ctr">
            <a:normAutofit/>
          </a:bodyPr>
          <a:lstStyle>
            <a:lvl1pPr marL="0" indent="0" algn="r">
              <a:lnSpc>
                <a:spcPct val="100000"/>
              </a:lnSpc>
              <a:buNone/>
              <a:defRPr sz="1800">
                <a:solidFill>
                  <a:schemeClr val="tx1">
                    <a:alpha val="70000"/>
                  </a:schemeClr>
                </a:solidFill>
                <a:latin typeface="+mn-lt"/>
              </a:defRPr>
            </a:lvl1pPr>
          </a:lstStyle>
          <a:p>
            <a:pPr lvl="0"/>
            <a:r>
              <a:rPr lang="en-US" dirty="0">
                <a:latin typeface="+mn-lt"/>
              </a:rPr>
              <a:t>Click to add text</a:t>
            </a:r>
            <a:endParaRPr lang="en-US" dirty="0"/>
          </a:p>
        </p:txBody>
      </p:sp>
      <p:sp>
        <p:nvSpPr>
          <p:cNvPr id="2" name="标题 1"/>
          <p:cNvSpPr>
            <a:spLocks noGrp="1"/>
          </p:cNvSpPr>
          <p:nvPr>
            <p:ph type="ctrTitle" hasCustomPrompt="1"/>
            <p:custDataLst>
              <p:tags r:id="rId17"/>
            </p:custDataLst>
          </p:nvPr>
        </p:nvSpPr>
        <p:spPr>
          <a:xfrm>
            <a:off x="1239520" y="1056005"/>
            <a:ext cx="6090285" cy="2926080"/>
          </a:xfrm>
        </p:spPr>
        <p:txBody>
          <a:bodyPr wrap="square" anchor="b">
            <a:normAutofit/>
          </a:bodyPr>
          <a:lstStyle>
            <a:lvl1pPr algn="l">
              <a:lnSpc>
                <a:spcPct val="100000"/>
              </a:lnSpc>
              <a:defRPr sz="4600">
                <a:solidFill>
                  <a:schemeClr val="tx2"/>
                </a:solidFill>
                <a:latin typeface="+mj-lt"/>
              </a:defRPr>
            </a:lvl1pPr>
          </a:lstStyle>
          <a:p>
            <a:r>
              <a:rPr lang="en-US" dirty="0">
                <a:latin typeface="+mj-lt"/>
              </a:rPr>
              <a:t>Click to add title</a:t>
            </a:r>
            <a:endParaRPr lang="en-US" dirty="0">
              <a:latin typeface="+mj-lt"/>
            </a:endParaRPr>
          </a:p>
        </p:txBody>
      </p:sp>
      <p:sp>
        <p:nvSpPr>
          <p:cNvPr id="3" name="副标题 2"/>
          <p:cNvSpPr>
            <a:spLocks noGrp="1"/>
          </p:cNvSpPr>
          <p:nvPr>
            <p:ph type="subTitle" idx="1" hasCustomPrompt="1"/>
            <p:custDataLst>
              <p:tags r:id="rId18"/>
            </p:custDataLst>
          </p:nvPr>
        </p:nvSpPr>
        <p:spPr>
          <a:xfrm>
            <a:off x="1239520" y="4154170"/>
            <a:ext cx="6000750" cy="694690"/>
          </a:xfrm>
        </p:spPr>
        <p:txBody>
          <a:bodyPr wrap="square">
            <a:normAutofit/>
          </a:bodyPr>
          <a:lstStyle>
            <a:lvl1pPr marL="0" indent="0" algn="l">
              <a:lnSpc>
                <a:spcPct val="100000"/>
              </a:lnSpc>
              <a:buNone/>
              <a:defRPr sz="2400">
                <a:solidFill>
                  <a:schemeClr val="tx1"/>
                </a:solidFill>
                <a:latin typeface="+mj-lt"/>
              </a:defRPr>
            </a:lvl1pPr>
            <a:lvl2pPr marL="457200" indent="0" algn="ctr">
              <a:buNone/>
              <a:defRPr sz="2000">
                <a:latin typeface="+mj-lt"/>
              </a:defRPr>
            </a:lvl2pPr>
            <a:lvl3pPr marL="914400" indent="0" algn="ctr">
              <a:buNone/>
              <a:defRPr sz="1800">
                <a:latin typeface="+mj-lt"/>
              </a:defRPr>
            </a:lvl3pPr>
            <a:lvl4pPr marL="1371600" indent="0" algn="ctr">
              <a:buNone/>
              <a:defRPr sz="1600">
                <a:latin typeface="+mj-lt"/>
              </a:defRPr>
            </a:lvl4pPr>
            <a:lvl5pPr marL="1828800" indent="0" algn="ctr">
              <a:buNone/>
              <a:defRPr sz="1600">
                <a:latin typeface="+mj-lt"/>
              </a:defRPr>
            </a:lvl5pPr>
            <a:lvl6pPr marL="2286000" indent="0" algn="ctr">
              <a:buNone/>
              <a:defRPr sz="1600">
                <a:latin typeface="+mj-lt"/>
              </a:defRPr>
            </a:lvl6pPr>
            <a:lvl7pPr marL="2743200" indent="0" algn="ctr">
              <a:buNone/>
              <a:defRPr sz="1600">
                <a:latin typeface="+mj-lt"/>
              </a:defRPr>
            </a:lvl7pPr>
            <a:lvl8pPr marL="3200400" indent="0" algn="ctr">
              <a:buNone/>
              <a:defRPr sz="1600">
                <a:latin typeface="+mj-lt"/>
              </a:defRPr>
            </a:lvl8pPr>
            <a:lvl9pPr marL="3657600" indent="0" algn="ctr">
              <a:buNone/>
              <a:defRPr sz="1600">
                <a:latin typeface="+mj-lt"/>
              </a:defRPr>
            </a:lvl9pPr>
          </a:lstStyle>
          <a:p>
            <a:r>
              <a:rPr lang="en-US" dirty="0">
                <a:latin typeface="+mj-lt"/>
              </a:rPr>
              <a:t>Click to add subtitle</a:t>
            </a:r>
            <a:endParaRPr lang="en-US" dirty="0"/>
          </a:p>
        </p:txBody>
      </p:sp>
      <p:sp>
        <p:nvSpPr>
          <p:cNvPr id="24" name="署名占位符 10"/>
          <p:cNvSpPr>
            <a:spLocks noGrp="1"/>
          </p:cNvSpPr>
          <p:nvPr>
            <p:ph type="body" sz="quarter" idx="17" hasCustomPrompt="1"/>
            <p:custDataLst>
              <p:tags r:id="rId19"/>
            </p:custDataLst>
          </p:nvPr>
        </p:nvSpPr>
        <p:spPr>
          <a:xfrm>
            <a:off x="1878619" y="5058604"/>
            <a:ext cx="2880000" cy="504000"/>
          </a:xfrm>
          <a:prstGeom prst="roundRect">
            <a:avLst>
              <a:gd name="adj" fmla="val 50000"/>
            </a:avLst>
          </a:prstGeom>
          <a:gradFill>
            <a:gsLst>
              <a:gs pos="0">
                <a:schemeClr val="accent1">
                  <a:alpha val="0"/>
                </a:schemeClr>
              </a:gs>
              <a:gs pos="76000">
                <a:schemeClr val="accent1"/>
              </a:gs>
            </a:gsLst>
            <a:lin ang="10800000" scaled="0"/>
          </a:gradFill>
        </p:spPr>
        <p:txBody>
          <a:bodyPr wrap="square" anchor="ctr">
            <a:normAutofit/>
          </a:bodyPr>
          <a:lstStyle>
            <a:lvl1pPr marL="360045" indent="0" algn="l" eaLnBrk="1" fontAlgn="auto" latinLnBrk="0" hangingPunct="1">
              <a:lnSpc>
                <a:spcPct val="100000"/>
              </a:lnSpc>
              <a:buNone/>
              <a:defRPr sz="1800">
                <a:solidFill>
                  <a:schemeClr val="lt1">
                    <a:lumMod val="100000"/>
                  </a:schemeClr>
                </a:solidFill>
                <a:latin typeface="+mn-lt"/>
              </a:defRPr>
            </a:lvl1pPr>
          </a:lstStyle>
          <a:p>
            <a:pPr lvl="0"/>
            <a:r>
              <a:rPr lang="en-US" dirty="0">
                <a:latin typeface="+mn-lt"/>
              </a:rPr>
              <a:t>Click to add text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1" Type="http://schemas.openxmlformats.org/officeDocument/2006/relationships/theme" Target="../theme/theme2.xml"/><Relationship Id="rId10" Type="http://schemas.openxmlformats.org/officeDocument/2006/relationships/tags" Target="../tags/tag2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12192001" cy="6858000"/>
          </a:xfrm>
          <a:prstGeom prst="rect">
            <a:avLst/>
          </a:prstGeom>
          <a:gradFill flip="none" rotWithShape="1">
            <a:gsLst>
              <a:gs pos="38000">
                <a:schemeClr val="bg1"/>
              </a:gs>
              <a:gs pos="100000">
                <a:schemeClr val="bg2"/>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spcBef>
                <a:spcPct val="0"/>
              </a:spcBef>
              <a:spcAft>
                <a:spcPct val="0"/>
              </a:spcAft>
            </a:pPr>
            <a:endParaRPr lang="en-US" sz="1800" kern="1200">
              <a:latin typeface="Arial" panose="020B0604020202020204" pitchFamily="34" charset="0"/>
              <a:sym typeface="+mn-ea"/>
            </a:endParaRPr>
          </a:p>
        </p:txBody>
      </p:sp>
      <p:sp>
        <p:nvSpPr>
          <p:cNvPr id="9" name="任意多边形: 形状 8"/>
          <p:cNvSpPr/>
          <p:nvPr userDrawn="1">
            <p:custDataLst>
              <p:tags r:id="rId3"/>
            </p:custDataLst>
          </p:nvPr>
        </p:nvSpPr>
        <p:spPr>
          <a:xfrm flipH="1">
            <a:off x="10931084" y="0"/>
            <a:ext cx="1260916" cy="1258221"/>
          </a:xfrm>
          <a:custGeom>
            <a:avLst/>
            <a:gdLst>
              <a:gd name="connsiteX0" fmla="*/ 916162 w 1457748"/>
              <a:gd name="connsiteY0" fmla="*/ 0 h 1454632"/>
              <a:gd name="connsiteX1" fmla="*/ 1457748 w 1457748"/>
              <a:gd name="connsiteY1" fmla="*/ 0 h 1454632"/>
              <a:gd name="connsiteX2" fmla="*/ 1450387 w 1457748"/>
              <a:gd name="connsiteY2" fmla="*/ 145781 h 1454632"/>
              <a:gd name="connsiteX3" fmla="*/ 0 w 1457748"/>
              <a:gd name="connsiteY3" fmla="*/ 1454632 h 1454632"/>
              <a:gd name="connsiteX4" fmla="*/ 0 w 1457748"/>
              <a:gd name="connsiteY4" fmla="*/ 913046 h 1454632"/>
              <a:gd name="connsiteX5" fmla="*/ 911597 w 1457748"/>
              <a:gd name="connsiteY5" fmla="*/ 90407 h 1454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7748" h="1454632">
                <a:moveTo>
                  <a:pt x="916162" y="0"/>
                </a:moveTo>
                <a:lnTo>
                  <a:pt x="1457748" y="0"/>
                </a:lnTo>
                <a:lnTo>
                  <a:pt x="1450387" y="145781"/>
                </a:lnTo>
                <a:cubicBezTo>
                  <a:pt x="1375727" y="880944"/>
                  <a:pt x="754860" y="1454632"/>
                  <a:pt x="0" y="1454632"/>
                </a:cubicBezTo>
                <a:lnTo>
                  <a:pt x="0" y="913046"/>
                </a:lnTo>
                <a:cubicBezTo>
                  <a:pt x="474444" y="913046"/>
                  <a:pt x="864672" y="552471"/>
                  <a:pt x="911597" y="90407"/>
                </a:cubicBezTo>
                <a:close/>
              </a:path>
            </a:pathLst>
          </a:custGeom>
          <a:gradFill>
            <a:gsLst>
              <a:gs pos="0">
                <a:schemeClr val="accent1">
                  <a:lumMod val="40000"/>
                  <a:lumOff val="60000"/>
                  <a:alpha val="0"/>
                </a:schemeClr>
              </a:gs>
              <a:gs pos="100000">
                <a:schemeClr val="accent1">
                  <a:lumMod val="20000"/>
                  <a:lumOff val="8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a:spcBef>
                <a:spcPct val="0"/>
              </a:spcBef>
              <a:spcAft>
                <a:spcPct val="0"/>
              </a:spcAft>
            </a:pPr>
            <a:endParaRPr lang="en-US" sz="1800" kern="1200">
              <a:solidFill>
                <a:schemeClr val="tx1"/>
              </a:solidFill>
              <a:latin typeface="Arial" panose="020B0604020202020204" pitchFamily="34" charset="0"/>
              <a:sym typeface="+mn-ea"/>
            </a:endParaRPr>
          </a:p>
        </p:txBody>
      </p:sp>
      <p:sp>
        <p:nvSpPr>
          <p:cNvPr id="10" name="任意多边形: 形状 9"/>
          <p:cNvSpPr/>
          <p:nvPr userDrawn="1">
            <p:custDataLst>
              <p:tags r:id="rId4"/>
            </p:custDataLst>
          </p:nvPr>
        </p:nvSpPr>
        <p:spPr>
          <a:xfrm rot="10800000" flipV="1">
            <a:off x="11016712" y="892385"/>
            <a:ext cx="337088" cy="89616"/>
          </a:xfrm>
          <a:custGeom>
            <a:avLst/>
            <a:gdLst>
              <a:gd name="connsiteX0" fmla="*/ 437468 w 504535"/>
              <a:gd name="connsiteY0" fmla="*/ 0 h 134134"/>
              <a:gd name="connsiteX1" fmla="*/ 504535 w 504535"/>
              <a:gd name="connsiteY1" fmla="*/ 67067 h 134134"/>
              <a:gd name="connsiteX2" fmla="*/ 437468 w 504535"/>
              <a:gd name="connsiteY2" fmla="*/ 134134 h 134134"/>
              <a:gd name="connsiteX3" fmla="*/ 370401 w 504535"/>
              <a:gd name="connsiteY3" fmla="*/ 67067 h 134134"/>
              <a:gd name="connsiteX4" fmla="*/ 437468 w 504535"/>
              <a:gd name="connsiteY4" fmla="*/ 0 h 134134"/>
              <a:gd name="connsiteX5" fmla="*/ 252267 w 504535"/>
              <a:gd name="connsiteY5" fmla="*/ 0 h 134134"/>
              <a:gd name="connsiteX6" fmla="*/ 319334 w 504535"/>
              <a:gd name="connsiteY6" fmla="*/ 67067 h 134134"/>
              <a:gd name="connsiteX7" fmla="*/ 252267 w 504535"/>
              <a:gd name="connsiteY7" fmla="*/ 134134 h 134134"/>
              <a:gd name="connsiteX8" fmla="*/ 185200 w 504535"/>
              <a:gd name="connsiteY8" fmla="*/ 67067 h 134134"/>
              <a:gd name="connsiteX9" fmla="*/ 252267 w 504535"/>
              <a:gd name="connsiteY9" fmla="*/ 0 h 134134"/>
              <a:gd name="connsiteX10" fmla="*/ 67067 w 504535"/>
              <a:gd name="connsiteY10" fmla="*/ 0 h 134134"/>
              <a:gd name="connsiteX11" fmla="*/ 134134 w 504535"/>
              <a:gd name="connsiteY11" fmla="*/ 67067 h 134134"/>
              <a:gd name="connsiteX12" fmla="*/ 67067 w 504535"/>
              <a:gd name="connsiteY12" fmla="*/ 134134 h 134134"/>
              <a:gd name="connsiteX13" fmla="*/ 0 w 504535"/>
              <a:gd name="connsiteY13" fmla="*/ 67067 h 134134"/>
              <a:gd name="connsiteX14" fmla="*/ 67067 w 504535"/>
              <a:gd name="connsiteY14" fmla="*/ 0 h 13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4535" h="134134">
                <a:moveTo>
                  <a:pt x="437468" y="0"/>
                </a:moveTo>
                <a:cubicBezTo>
                  <a:pt x="474508" y="0"/>
                  <a:pt x="504535" y="30027"/>
                  <a:pt x="504535" y="67067"/>
                </a:cubicBezTo>
                <a:cubicBezTo>
                  <a:pt x="504535" y="104107"/>
                  <a:pt x="474508" y="134134"/>
                  <a:pt x="437468" y="134134"/>
                </a:cubicBezTo>
                <a:cubicBezTo>
                  <a:pt x="400428" y="134134"/>
                  <a:pt x="370401" y="104107"/>
                  <a:pt x="370401" y="67067"/>
                </a:cubicBezTo>
                <a:cubicBezTo>
                  <a:pt x="370401" y="30027"/>
                  <a:pt x="400428" y="0"/>
                  <a:pt x="437468" y="0"/>
                </a:cubicBezTo>
                <a:close/>
                <a:moveTo>
                  <a:pt x="252267" y="0"/>
                </a:moveTo>
                <a:cubicBezTo>
                  <a:pt x="289307" y="0"/>
                  <a:pt x="319334" y="30027"/>
                  <a:pt x="319334" y="67067"/>
                </a:cubicBezTo>
                <a:cubicBezTo>
                  <a:pt x="319334" y="104107"/>
                  <a:pt x="289307" y="134134"/>
                  <a:pt x="252267" y="134134"/>
                </a:cubicBezTo>
                <a:cubicBezTo>
                  <a:pt x="215227" y="134134"/>
                  <a:pt x="185200" y="104107"/>
                  <a:pt x="185200" y="67067"/>
                </a:cubicBezTo>
                <a:cubicBezTo>
                  <a:pt x="185200" y="30027"/>
                  <a:pt x="215227" y="0"/>
                  <a:pt x="252267" y="0"/>
                </a:cubicBezTo>
                <a:close/>
                <a:moveTo>
                  <a:pt x="67067" y="0"/>
                </a:moveTo>
                <a:cubicBezTo>
                  <a:pt x="104107" y="0"/>
                  <a:pt x="134134" y="30027"/>
                  <a:pt x="134134" y="67067"/>
                </a:cubicBezTo>
                <a:cubicBezTo>
                  <a:pt x="134134" y="104107"/>
                  <a:pt x="104107" y="134134"/>
                  <a:pt x="67067" y="134134"/>
                </a:cubicBezTo>
                <a:cubicBezTo>
                  <a:pt x="30027" y="134134"/>
                  <a:pt x="0" y="104107"/>
                  <a:pt x="0" y="67067"/>
                </a:cubicBezTo>
                <a:cubicBezTo>
                  <a:pt x="0" y="30027"/>
                  <a:pt x="30027" y="0"/>
                  <a:pt x="67067"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914400">
              <a:spcBef>
                <a:spcPct val="0"/>
              </a:spcBef>
              <a:spcAft>
                <a:spcPct val="0"/>
              </a:spcAft>
            </a:pPr>
            <a:endParaRPr lang="en-US" sz="1800" kern="1200">
              <a:solidFill>
                <a:schemeClr val="tx2"/>
              </a:solidFill>
              <a:latin typeface="Arial" panose="020B0604020202020204" pitchFamily="34" charset="0"/>
              <a:sym typeface="+mn-ea"/>
            </a:endParaRPr>
          </a:p>
        </p:txBody>
      </p:sp>
      <p:sp>
        <p:nvSpPr>
          <p:cNvPr id="2" name="标题占位符 1"/>
          <p:cNvSpPr>
            <a:spLocks noGrp="1"/>
          </p:cNvSpPr>
          <p:nvPr>
            <p:ph type="title"/>
            <p:custDataLst>
              <p:tags r:id="rId5"/>
            </p:custDataLst>
          </p:nvPr>
        </p:nvSpPr>
        <p:spPr>
          <a:xfrm>
            <a:off x="695960" y="360000"/>
            <a:ext cx="10800000" cy="720000"/>
          </a:xfrm>
          <a:prstGeom prst="rect">
            <a:avLst/>
          </a:prstGeom>
        </p:spPr>
        <p:txBody>
          <a:bodyPr vert="horz" wrap="square" lIns="0" tIns="0" rIns="0" bIns="0" rtlCol="0" anchor="b" anchorCtr="0">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6"/>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defRPr>
            </a:lvl1pPr>
          </a:lstStyle>
          <a:p>
            <a:fld id="{BE5F26B5-172A-4DC2-B0B7-181CFC56B87C}" type="slidenum">
              <a:rPr lang="en-US" smtClean="0"/>
            </a:fld>
            <a:endParaRPr lang="en-US"/>
          </a:p>
        </p:txBody>
      </p:sp>
      <p:sp>
        <p:nvSpPr>
          <p:cNvPr id="11" name="KSO_TEMPLATE" hidden="1"/>
          <p:cNvSpPr/>
          <p:nvPr userDrawn="1">
            <p:custDataLst>
              <p:tags r:id="rId10"/>
            </p:custDataLst>
          </p:nvPr>
        </p:nvSpPr>
        <p:spPr>
          <a:xfrm>
            <a:off x="0" y="0"/>
            <a:ext cx="0" cy="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defTabSz="914400">
              <a:spcBef>
                <a:spcPct val="0"/>
              </a:spcBef>
              <a:spcAft>
                <a:spcPct val="0"/>
              </a:spcAft>
            </a:pPr>
            <a:endParaRPr lang="zh-CN" altLang="en-US" sz="1800" kern="1200">
              <a:sym typeface="+mn-ea"/>
            </a:endParaRPr>
          </a:p>
        </p:txBody>
      </p:sp>
    </p:spTree>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100000"/>
        </a:lnSpc>
        <a:spcBef>
          <a:spcPct val="0"/>
        </a:spcBef>
        <a:buNone/>
        <a:defRPr sz="3200" b="1" kern="1200">
          <a:solidFill>
            <a:schemeClr val="tx2"/>
          </a:solidFill>
          <a:latin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2" Type="http://schemas.openxmlformats.org/officeDocument/2006/relationships/notesSlide" Target="../notesSlides/notesSlide9.xml"/><Relationship Id="rId11" Type="http://schemas.openxmlformats.org/officeDocument/2006/relationships/slideLayout" Target="../slideLayouts/slideLayout1.xml"/><Relationship Id="rId10" Type="http://schemas.openxmlformats.org/officeDocument/2006/relationships/image" Target="../media/image22.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xml"/><Relationship Id="rId7" Type="http://schemas.openxmlformats.org/officeDocument/2006/relationships/image" Target="../media/image26.jpe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1.xml"/><Relationship Id="rId7" Type="http://schemas.openxmlformats.org/officeDocument/2006/relationships/image" Target="../media/image33.jpeg"/><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35.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1.xml"/><Relationship Id="rId7" Type="http://schemas.openxmlformats.org/officeDocument/2006/relationships/image" Target="../media/image42.png"/><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slideLayout" Target="../slideLayouts/slideLayout1.xml"/><Relationship Id="rId7" Type="http://schemas.openxmlformats.org/officeDocument/2006/relationships/image" Target="../media/image46.jpeg"/><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47.png"/><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47.png"/><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36.png"/><Relationship Id="rId4" Type="http://schemas.openxmlformats.org/officeDocument/2006/relationships/image" Target="../media/image24.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png"/><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image" Target="../media/image58.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83" name="Shape 83"/>
        <p:cNvGrpSpPr/>
        <p:nvPr/>
      </p:nvGrpSpPr>
      <p:grpSpPr>
        <a:xfrm>
          <a:off x="0" y="0"/>
          <a:ext cx="0" cy="0"/>
          <a:chOff x="0" y="0"/>
          <a:chExt cx="0" cy="0"/>
        </a:xfrm>
      </p:grpSpPr>
      <p:pic>
        <p:nvPicPr>
          <p:cNvPr id="84" name="Google Shape;84;p13"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85" name="Google Shape;85;p13"/>
          <p:cNvSpPr txBox="1"/>
          <p:nvPr/>
        </p:nvSpPr>
        <p:spPr>
          <a:xfrm>
            <a:off x="3629471" y="2674590"/>
            <a:ext cx="4933057" cy="41529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8C7355"/>
                </a:solidFill>
                <a:latin typeface="Times New Roman" panose="02020603050405020304" charset="0"/>
                <a:ea typeface="Plus Jakarta Sans SemiBold"/>
                <a:cs typeface="Times New Roman" panose="02020603050405020304" charset="0"/>
                <a:sym typeface="Plus Jakarta Sans SemiBold"/>
              </a:rPr>
              <a:t>ĐỒ ÁN PHÂN TÍCH HỆ THỐNG</a:t>
            </a:r>
            <a:endParaRPr lang="en-US" sz="1800" b="0" i="0" u="none" strike="noStrike" cap="none">
              <a:solidFill>
                <a:srgbClr val="8C7355"/>
              </a:solidFill>
              <a:latin typeface="Times New Roman" panose="02020603050405020304" charset="0"/>
              <a:ea typeface="Plus Jakarta Sans SemiBold"/>
              <a:cs typeface="Times New Roman" panose="02020603050405020304" charset="0"/>
              <a:sym typeface="Plus Jakarta Sans SemiBold"/>
            </a:endParaRPr>
          </a:p>
        </p:txBody>
      </p:sp>
      <p:sp>
        <p:nvSpPr>
          <p:cNvPr id="86" name="Google Shape;86;p13"/>
          <p:cNvSpPr txBox="1"/>
          <p:nvPr/>
        </p:nvSpPr>
        <p:spPr>
          <a:xfrm>
            <a:off x="3304540" y="2930525"/>
            <a:ext cx="5983605" cy="73850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000" b="1" i="0" u="none" strike="noStrike" cap="none">
                <a:solidFill>
                  <a:srgbClr val="1C1613"/>
                </a:solidFill>
                <a:latin typeface="Times New Roman" panose="02020603050405020304" charset="0"/>
                <a:ea typeface="Playfair Display"/>
                <a:cs typeface="Times New Roman" panose="02020603050405020304" charset="0"/>
                <a:sym typeface="Playfair Display"/>
              </a:rPr>
              <a:t>Website Bán Nước Hoa</a:t>
            </a:r>
            <a:endParaRPr lang="en-US" sz="40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87" name="Google Shape;87;p13"/>
          <p:cNvSpPr txBox="1"/>
          <p:nvPr/>
        </p:nvSpPr>
        <p:spPr>
          <a:xfrm>
            <a:off x="3399790" y="3669030"/>
            <a:ext cx="5657850" cy="41529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1" u="none" strike="noStrike" cap="none">
                <a:solidFill>
                  <a:srgbClr val="6E645E"/>
                </a:solidFill>
                <a:latin typeface="Times New Roman" panose="02020603050405020304" charset="0"/>
                <a:ea typeface="Playfair Display"/>
                <a:cs typeface="Times New Roman" panose="02020603050405020304" charset="0"/>
                <a:sym typeface="Playfair Display"/>
              </a:rPr>
              <a:t>Hệ Thống Quản Lý &amp; Kinh Doanh Trực Tuyến Hiện Đại</a:t>
            </a:r>
            <a:endParaRPr lang="en-US" sz="1800" b="0" i="1" u="none" strike="noStrike" cap="none">
              <a:solidFill>
                <a:srgbClr val="6E645E"/>
              </a:solidFill>
              <a:latin typeface="Times New Roman" panose="02020603050405020304" charset="0"/>
              <a:ea typeface="Playfair Display"/>
              <a:cs typeface="Times New Roman" panose="02020603050405020304" charset="0"/>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5"/>
          <p:cNvSpPr/>
          <p:nvPr/>
        </p:nvSpPr>
        <p:spPr>
          <a:xfrm>
            <a:off x="1084580" y="3101340"/>
            <a:ext cx="10394950" cy="2537460"/>
          </a:xfrm>
          <a:prstGeom prst="rect">
            <a:avLst/>
          </a:prstGeom>
          <a:noFill/>
          <a:ln>
            <a:noFill/>
          </a:ln>
        </p:spPr>
        <p:txBody>
          <a:bodyPr wrap="square" lIns="91425" tIns="45700" rIns="91425" bIns="45700" anchor="t" anchorCtr="0">
            <a:norm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panose="020B0604020202020204"/>
              <a:buNone/>
              <a:defRPr sz="3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914400" marR="0" lvl="1" indent="-406400" algn="ctr" rtl="0">
              <a:lnSpc>
                <a:spcPct val="100000"/>
              </a:lnSpc>
              <a:spcBef>
                <a:spcPts val="560"/>
              </a:spcBef>
              <a:spcAft>
                <a:spcPts val="0"/>
              </a:spcAft>
              <a:buClr>
                <a:srgbClr val="888888"/>
              </a:buClr>
              <a:buSzPts val="2800"/>
              <a:buFont typeface="Arial" panose="020B0604020202020204"/>
              <a:buNone/>
              <a:defRPr sz="28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1371600" marR="0" lvl="2" indent="-381000" algn="ctr" rtl="0">
              <a:lnSpc>
                <a:spcPct val="100000"/>
              </a:lnSpc>
              <a:spcBef>
                <a:spcPts val="480"/>
              </a:spcBef>
              <a:spcAft>
                <a:spcPts val="0"/>
              </a:spcAft>
              <a:buClr>
                <a:srgbClr val="888888"/>
              </a:buClr>
              <a:buSzPts val="2400"/>
              <a:buFont typeface="Arial" panose="020B0604020202020204"/>
              <a:buNone/>
              <a:defRPr sz="24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1828800" marR="0" lvl="3"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2286000" marR="0" lvl="4"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2743200" marR="0" lvl="5"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3200400" marR="0" lvl="6"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3657600" marR="0" lvl="7"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4114800" marR="0" lvl="8" indent="-355600" algn="ctr" rtl="0">
              <a:lnSpc>
                <a:spcPct val="100000"/>
              </a:lnSpc>
              <a:spcBef>
                <a:spcPts val="4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algn="l" defTabSz="914400"/>
            <a:r>
              <a:rPr lang="en-US" sz="2400" kern="1200">
                <a:solidFill>
                  <a:schemeClr val="tx1"/>
                </a:solidFill>
                <a:latin typeface="Times New Roman" panose="02020603050405020304" charset="0"/>
                <a:cs typeface="Times New Roman" panose="02020603050405020304" charset="0"/>
              </a:rPr>
              <a:t>Các thành viên : </a:t>
            </a:r>
            <a:r>
              <a:rPr lang="en-US" altLang="en-US" sz="2400" kern="1200">
                <a:solidFill>
                  <a:schemeClr val="tx1"/>
                </a:solidFill>
                <a:latin typeface="Times New Roman" panose="02020603050405020304" charset="0"/>
                <a:cs typeface="Times New Roman" panose="02020603050405020304" charset="0"/>
              </a:rPr>
              <a:t>Nguyễn Tùng Dương - 523CNT1016</a:t>
            </a:r>
            <a:endParaRPr lang="en-US" altLang="en-US" sz="2400" kern="1200">
              <a:solidFill>
                <a:schemeClr val="tx1"/>
              </a:solidFill>
              <a:latin typeface="Times New Roman" panose="02020603050405020304" charset="0"/>
              <a:cs typeface="Times New Roman" panose="02020603050405020304" charset="0"/>
            </a:endParaRPr>
          </a:p>
          <a:p>
            <a:pPr algn="l" defTabSz="914400"/>
            <a:r>
              <a:rPr lang="en-US" altLang="en-US" sz="2400" kern="1200">
                <a:solidFill>
                  <a:schemeClr val="tx1"/>
                </a:solidFill>
                <a:latin typeface="Times New Roman" panose="02020603050405020304" charset="0"/>
                <a:cs typeface="Times New Roman" panose="02020603050405020304" charset="0"/>
              </a:rPr>
              <a:t>                           Xa Việt Hoàng - 523CNT1014</a:t>
            </a:r>
            <a:endParaRPr lang="en-US" altLang="en-US" sz="2400" kern="1200">
              <a:solidFill>
                <a:schemeClr val="tx1"/>
              </a:solidFill>
              <a:latin typeface="Times New Roman" panose="02020603050405020304" charset="0"/>
              <a:cs typeface="Times New Roman" panose="02020603050405020304" charset="0"/>
            </a:endParaRPr>
          </a:p>
          <a:p>
            <a:pPr algn="l" defTabSz="914400"/>
            <a:r>
              <a:rPr lang="en-US" altLang="en-US" sz="2400" kern="1200">
                <a:solidFill>
                  <a:schemeClr val="tx1"/>
                </a:solidFill>
                <a:latin typeface="Times New Roman" panose="02020603050405020304" charset="0"/>
                <a:cs typeface="Times New Roman" panose="02020603050405020304" charset="0"/>
              </a:rPr>
              <a:t>                           Bùi Đức Thắng - 523CNT1003</a:t>
            </a:r>
            <a:endParaRPr lang="en-US" altLang="en-US" sz="2400" kern="1200">
              <a:solidFill>
                <a:schemeClr val="tx1"/>
              </a:solidFill>
              <a:latin typeface="Times New Roman" panose="02020603050405020304" charset="0"/>
              <a:cs typeface="Times New Roman" panose="02020603050405020304" charset="0"/>
            </a:endParaRPr>
          </a:p>
        </p:txBody>
      </p:sp>
      <p:sp>
        <p:nvSpPr>
          <p:cNvPr id="2" name="Title 3"/>
          <p:cNvSpPr/>
          <p:nvPr/>
        </p:nvSpPr>
        <p:spPr>
          <a:xfrm>
            <a:off x="685800" y="397510"/>
            <a:ext cx="11114405" cy="2590165"/>
          </a:xfrm>
          <a:prstGeom prst="rect">
            <a:avLst/>
          </a:prstGeom>
          <a:noFill/>
          <a:ln>
            <a:noFill/>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l" defTabSz="914400"/>
            <a:r>
              <a:rPr lang="en-US" kern="1200">
                <a:solidFill>
                  <a:schemeClr val="dk1"/>
                </a:solidFill>
                <a:latin typeface="Times New Roman" panose="02020603050405020304" charset="0"/>
                <a:cs typeface="Times New Roman" panose="02020603050405020304" charset="0"/>
              </a:rPr>
              <a:t>Nhóm 3 : </a:t>
            </a:r>
            <a:br>
              <a:rPr lang="en-US" kern="1200">
                <a:solidFill>
                  <a:schemeClr val="dk1"/>
                </a:solidFill>
                <a:latin typeface="Times New Roman" panose="02020603050405020304" charset="0"/>
                <a:cs typeface="Times New Roman" panose="02020603050405020304" charset="0"/>
              </a:rPr>
            </a:br>
            <a:r>
              <a:rPr lang="en-US" kern="1200">
                <a:solidFill>
                  <a:schemeClr val="dk1"/>
                </a:solidFill>
                <a:latin typeface="Times New Roman" panose="02020603050405020304" charset="0"/>
                <a:cs typeface="Times New Roman" panose="02020603050405020304" charset="0"/>
              </a:rPr>
              <a:t>Đề Tài : Xây Dựng Trang Web Bán Nước Hoa</a:t>
            </a:r>
            <a:endParaRPr lang="en-US" kern="1200">
              <a:solidFill>
                <a:schemeClr val="dk1"/>
              </a:solidFill>
              <a:latin typeface="Times New Roman" panose="02020603050405020304" charset="0"/>
              <a:cs typeface="Times New Roman" panose="02020603050405020304" charset="0"/>
            </a:endParaRPr>
          </a:p>
        </p:txBody>
      </p:sp>
      <p:sp>
        <p:nvSpPr>
          <p:cNvPr id="4" name="标题"/>
          <p:cNvSpPr>
            <a:spLocks noGrp="1"/>
          </p:cNvSpPr>
          <p:nvPr>
            <p:ph type="ctrTitle"/>
            <p:custDataLst>
              <p:tags r:id="rId1"/>
            </p:custDataLst>
          </p:nvPr>
        </p:nvSpPr>
        <p:spPr/>
        <p:txBody>
          <a:bodyPr/>
          <a:lstStyle/>
          <a:p>
            <a:r>
              <a:rPr lang="en-US"/>
              <a:t> </a:t>
            </a:r>
            <a:endParaRPr lang="en-US"/>
          </a:p>
        </p:txBody>
      </p:sp>
      <p:sp>
        <p:nvSpPr>
          <p:cNvPr id="10" name="署名"/>
          <p:cNvSpPr>
            <a:spLocks noGrp="1"/>
          </p:cNvSpPr>
          <p:nvPr>
            <p:ph type="body" sz="quarter" idx="17"/>
            <p:custDataLst>
              <p:tags r:id="rId2"/>
            </p:custDataLst>
          </p:nvPr>
        </p:nvSpPr>
        <p:spPr/>
        <p:txBody>
          <a:bodyPr/>
          <a:lstStyle/>
          <a:p>
            <a:r>
              <a:rPr lang="en-US"/>
              <a:t>Name</a:t>
            </a:r>
            <a:endParaRPr 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92" name="Shape 92"/>
        <p:cNvGrpSpPr/>
        <p:nvPr/>
      </p:nvGrpSpPr>
      <p:grpSpPr>
        <a:xfrm>
          <a:off x="0" y="0"/>
          <a:ext cx="0" cy="0"/>
          <a:chOff x="0" y="0"/>
          <a:chExt cx="0" cy="0"/>
        </a:xfrm>
      </p:grpSpPr>
      <p:pic>
        <p:nvPicPr>
          <p:cNvPr id="93" name="Google Shape;93;p1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2"/>
          <a:srcRect/>
          <a:stretch>
            <a:fillRect/>
          </a:stretch>
        </p:blipFill>
        <p:spPr>
          <a:xfrm>
            <a:off x="6262687" y="2062162"/>
            <a:ext cx="5262562" cy="3333750"/>
          </a:xfrm>
          <a:prstGeom prst="rect">
            <a:avLst/>
          </a:prstGeom>
          <a:noFill/>
          <a:ln>
            <a:noFill/>
          </a:ln>
        </p:spPr>
      </p:pic>
      <p:sp>
        <p:nvSpPr>
          <p:cNvPr id="95" name="Google Shape;95;p14"/>
          <p:cNvSpPr txBox="1"/>
          <p:nvPr/>
        </p:nvSpPr>
        <p:spPr>
          <a:xfrm>
            <a:off x="666750" y="2062162"/>
            <a:ext cx="552569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Lý do chọn đề tài</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96" name="Google Shape;96;p14"/>
          <p:cNvSpPr txBox="1"/>
          <p:nvPr/>
        </p:nvSpPr>
        <p:spPr>
          <a:xfrm>
            <a:off x="1047750" y="2376487"/>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Nhu cầu mua sắm trực tuyến trong thời đại số hóa ngày càng tăng cao.</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97" name="Google Shape;97;p14"/>
          <p:cNvSpPr txBox="1"/>
          <p:nvPr/>
        </p:nvSpPr>
        <p:spPr>
          <a:xfrm>
            <a:off x="1047750" y="2896492"/>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Ngành nước hoa cần mở rộng thị trường và nâng cao hiệu quả quản lý kho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98" name="Google Shape;98;p14"/>
          <p:cNvSpPr txBox="1"/>
          <p:nvPr/>
        </p:nvSpPr>
        <p:spPr>
          <a:xfrm>
            <a:off x="995045" y="3486348"/>
            <a:ext cx="4881562" cy="688340"/>
          </a:xfrm>
          <a:prstGeom prst="rect">
            <a:avLst/>
          </a:prstGeom>
          <a:noFill/>
          <a:ln>
            <a:noFill/>
          </a:ln>
        </p:spPr>
        <p:txBody>
          <a:bodyPr spcFirstLastPara="1" wrap="square" lIns="0" tIns="0" rIns="0" bIns="0" numCol="1" anchor="t" anchorCtr="0">
            <a:spAutoFit/>
          </a:bodyPr>
          <a:lstStyle/>
          <a:p>
            <a:pPr marL="0" marR="0" lvl="0" indent="0" algn="l" rtl="0">
              <a:lnSpc>
                <a:spcPct val="14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Đáp ứng nhu cầu mua sắm trực tuyến 24/7 mọi lúc mọi nơi nhanh chóng.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99" name="Google Shape;99;p14"/>
          <p:cNvSpPr txBox="1"/>
          <p:nvPr/>
        </p:nvSpPr>
        <p:spPr>
          <a:xfrm>
            <a:off x="1009650" y="4021593"/>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Chuyên nghiệp hóa dịch vụ, tin học hóa quy trình bằng Website hiện đại.</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pic>
        <p:nvPicPr>
          <p:cNvPr id="100" name="Google Shape;100;p14" descr="image.png"/>
          <p:cNvPicPr preferRelativeResize="0"/>
          <p:nvPr/>
        </p:nvPicPr>
        <p:blipFill rotWithShape="1">
          <a:blip r:embed="rId3"/>
          <a:srcRect/>
          <a:stretch>
            <a:fillRect/>
          </a:stretch>
        </p:blipFill>
        <p:spPr>
          <a:xfrm>
            <a:off x="6215062" y="2081212"/>
            <a:ext cx="5243512" cy="3314700"/>
          </a:xfrm>
          <a:prstGeom prst="rect">
            <a:avLst/>
          </a:prstGeom>
          <a:noFill/>
          <a:ln>
            <a:noFill/>
          </a:ln>
        </p:spPr>
      </p:pic>
      <p:sp>
        <p:nvSpPr>
          <p:cNvPr id="101" name="Google Shape;101;p14"/>
          <p:cNvSpPr txBox="1"/>
          <p:nvPr/>
        </p:nvSpPr>
        <p:spPr>
          <a:xfrm>
            <a:off x="666750" y="2376487"/>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102" name="Google Shape;102;p14"/>
          <p:cNvSpPr txBox="1"/>
          <p:nvPr/>
        </p:nvSpPr>
        <p:spPr>
          <a:xfrm>
            <a:off x="666750" y="2734567"/>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103" name="Google Shape;103;p14"/>
          <p:cNvSpPr txBox="1"/>
          <p:nvPr/>
        </p:nvSpPr>
        <p:spPr>
          <a:xfrm>
            <a:off x="666750" y="3092648"/>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104" name="Google Shape;104;p14"/>
          <p:cNvSpPr txBox="1"/>
          <p:nvPr/>
        </p:nvSpPr>
        <p:spPr>
          <a:xfrm>
            <a:off x="666750" y="3450728"/>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pic>
        <p:nvPicPr>
          <p:cNvPr id="105" name="Google Shape;105;p14" descr="image.png"/>
          <p:cNvPicPr preferRelativeResize="0"/>
          <p:nvPr/>
        </p:nvPicPr>
        <p:blipFill rotWithShape="1">
          <a:blip r:embed="rId4"/>
          <a:srcRect/>
          <a:stretch>
            <a:fillRect/>
          </a:stretch>
        </p:blipFill>
        <p:spPr>
          <a:xfrm>
            <a:off x="714375" y="2390775"/>
            <a:ext cx="190500" cy="200025"/>
          </a:xfrm>
          <a:prstGeom prst="rect">
            <a:avLst/>
          </a:prstGeom>
          <a:noFill/>
          <a:ln>
            <a:noFill/>
          </a:ln>
        </p:spPr>
      </p:pic>
      <p:pic>
        <p:nvPicPr>
          <p:cNvPr id="106" name="Google Shape;106;p14" descr="image.png"/>
          <p:cNvPicPr preferRelativeResize="0"/>
          <p:nvPr/>
        </p:nvPicPr>
        <p:blipFill rotWithShape="1">
          <a:blip r:embed="rId4"/>
          <a:srcRect/>
          <a:stretch>
            <a:fillRect/>
          </a:stretch>
        </p:blipFill>
        <p:spPr>
          <a:xfrm>
            <a:off x="714375" y="2910780"/>
            <a:ext cx="190500" cy="200025"/>
          </a:xfrm>
          <a:prstGeom prst="rect">
            <a:avLst/>
          </a:prstGeom>
          <a:noFill/>
          <a:ln>
            <a:noFill/>
          </a:ln>
        </p:spPr>
      </p:pic>
      <p:pic>
        <p:nvPicPr>
          <p:cNvPr id="107" name="Google Shape;107;p14" descr="image.png"/>
          <p:cNvPicPr preferRelativeResize="0"/>
          <p:nvPr/>
        </p:nvPicPr>
        <p:blipFill rotWithShape="1">
          <a:blip r:embed="rId4"/>
          <a:srcRect/>
          <a:stretch>
            <a:fillRect/>
          </a:stretch>
        </p:blipFill>
        <p:spPr>
          <a:xfrm>
            <a:off x="714375" y="3450470"/>
            <a:ext cx="190500" cy="200025"/>
          </a:xfrm>
          <a:prstGeom prst="rect">
            <a:avLst/>
          </a:prstGeom>
          <a:noFill/>
          <a:ln>
            <a:noFill/>
          </a:ln>
        </p:spPr>
      </p:pic>
      <p:pic>
        <p:nvPicPr>
          <p:cNvPr id="108" name="Google Shape;108;p14" descr="image.png"/>
          <p:cNvPicPr preferRelativeResize="0"/>
          <p:nvPr/>
        </p:nvPicPr>
        <p:blipFill rotWithShape="1">
          <a:blip r:embed="rId4"/>
          <a:srcRect/>
          <a:stretch>
            <a:fillRect/>
          </a:stretch>
        </p:blipFill>
        <p:spPr>
          <a:xfrm>
            <a:off x="714375" y="4014291"/>
            <a:ext cx="190500" cy="200025"/>
          </a:xfrm>
          <a:prstGeom prst="rect">
            <a:avLst/>
          </a:prstGeom>
          <a:noFill/>
          <a:ln>
            <a:noFill/>
          </a:ln>
        </p:spPr>
      </p:pic>
      <p:sp>
        <p:nvSpPr>
          <p:cNvPr id="109" name="Google Shape;109;p14"/>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1.1. Giới thiệu đề tài</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110" name="Google Shape;110;p14"/>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pic>
        <p:nvPicPr>
          <p:cNvPr id="2" name="Picture 1" descr="1"/>
          <p:cNvPicPr>
            <a:picLocks noChangeAspect="1"/>
          </p:cNvPicPr>
          <p:nvPr/>
        </p:nvPicPr>
        <p:blipFill>
          <a:blip r:embed="rId5"/>
          <a:stretch>
            <a:fillRect/>
          </a:stretch>
        </p:blipFill>
        <p:spPr>
          <a:xfrm>
            <a:off x="6109335" y="1250950"/>
            <a:ext cx="5842635" cy="46748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14" name="Shape 114"/>
        <p:cNvGrpSpPr/>
        <p:nvPr/>
      </p:nvGrpSpPr>
      <p:grpSpPr>
        <a:xfrm>
          <a:off x="0" y="0"/>
          <a:ext cx="0" cy="0"/>
          <a:chOff x="0" y="0"/>
          <a:chExt cx="0" cy="0"/>
        </a:xfrm>
      </p:grpSpPr>
      <p:pic>
        <p:nvPicPr>
          <p:cNvPr id="115" name="Google Shape;115;p1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16" name="Google Shape;116;p15" descr="image.png"/>
          <p:cNvPicPr preferRelativeResize="0"/>
          <p:nvPr/>
        </p:nvPicPr>
        <p:blipFill rotWithShape="1">
          <a:blip r:embed="rId2"/>
          <a:srcRect/>
          <a:stretch>
            <a:fillRect/>
          </a:stretch>
        </p:blipFill>
        <p:spPr>
          <a:xfrm>
            <a:off x="666750" y="3071495"/>
            <a:ext cx="5262245" cy="2202815"/>
          </a:xfrm>
          <a:prstGeom prst="rect">
            <a:avLst/>
          </a:prstGeom>
          <a:noFill/>
          <a:ln>
            <a:noFill/>
          </a:ln>
        </p:spPr>
      </p:pic>
      <p:pic>
        <p:nvPicPr>
          <p:cNvPr id="117" name="Google Shape;117;p15" descr="image.png"/>
          <p:cNvPicPr preferRelativeResize="0"/>
          <p:nvPr/>
        </p:nvPicPr>
        <p:blipFill rotWithShape="1">
          <a:blip r:embed="rId3"/>
          <a:srcRect/>
          <a:stretch>
            <a:fillRect/>
          </a:stretch>
        </p:blipFill>
        <p:spPr>
          <a:xfrm>
            <a:off x="6262370" y="3071495"/>
            <a:ext cx="5262245" cy="2202815"/>
          </a:xfrm>
          <a:prstGeom prst="rect">
            <a:avLst/>
          </a:prstGeom>
          <a:noFill/>
          <a:ln>
            <a:noFill/>
          </a:ln>
        </p:spPr>
      </p:pic>
      <p:sp>
        <p:nvSpPr>
          <p:cNvPr id="118" name="Google Shape;118;p15"/>
          <p:cNvSpPr txBox="1"/>
          <p:nvPr/>
        </p:nvSpPr>
        <p:spPr>
          <a:xfrm>
            <a:off x="962025" y="331946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Bán hàng trực tuyến</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119" name="Google Shape;119;p15"/>
          <p:cNvSpPr/>
          <p:nvPr/>
        </p:nvSpPr>
        <p:spPr>
          <a:xfrm>
            <a:off x="962025" y="361473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20" name="Google Shape;120;p15"/>
          <p:cNvSpPr txBox="1"/>
          <p:nvPr/>
        </p:nvSpPr>
        <p:spPr>
          <a:xfrm>
            <a:off x="962025" y="3738562"/>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Hỗ trợ khách hàng mua sắm nhanh chóng, tiện lợi, giao diện trực quan và sang trọng, tạo trải nghiệm mua sắm đẳng cấp.</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21" name="Google Shape;121;p15"/>
          <p:cNvSpPr txBox="1"/>
          <p:nvPr/>
        </p:nvSpPr>
        <p:spPr>
          <a:xfrm>
            <a:off x="6557962" y="331946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Quản lý &amp; Tối ưu</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122" name="Google Shape;122;p15"/>
          <p:cNvSpPr/>
          <p:nvPr/>
        </p:nvSpPr>
        <p:spPr>
          <a:xfrm>
            <a:off x="6557962" y="361473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23" name="Google Shape;123;p15"/>
          <p:cNvSpPr txBox="1"/>
          <p:nvPr/>
        </p:nvSpPr>
        <p:spPr>
          <a:xfrm>
            <a:off x="6557645" y="3596005"/>
            <a:ext cx="4671695" cy="742315"/>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Quản lý sản phẩm, tồn kho chính xác thời gian thực. Tự động thống kê doanh thu giúp người quản lý đưa ra quyết định kinh doanh đúng đắn </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24" name="Google Shape;124;p15"/>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Mục tiêu của hệ thống</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125" name="Google Shape;125;p15"/>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29" name="Shape 129"/>
        <p:cNvGrpSpPr/>
        <p:nvPr/>
      </p:nvGrpSpPr>
      <p:grpSpPr>
        <a:xfrm>
          <a:off x="0" y="0"/>
          <a:ext cx="0" cy="0"/>
          <a:chOff x="0" y="0"/>
          <a:chExt cx="0" cy="0"/>
        </a:xfrm>
      </p:grpSpPr>
      <p:pic>
        <p:nvPicPr>
          <p:cNvPr id="130" name="Google Shape;130;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31" name="Google Shape;131;p16" descr="image.png"/>
          <p:cNvPicPr preferRelativeResize="0"/>
          <p:nvPr/>
        </p:nvPicPr>
        <p:blipFill rotWithShape="1">
          <a:blip r:embed="rId2"/>
          <a:srcRect/>
          <a:stretch>
            <a:fillRect/>
          </a:stretch>
        </p:blipFill>
        <p:spPr>
          <a:xfrm>
            <a:off x="666750" y="2823845"/>
            <a:ext cx="5262245" cy="2465070"/>
          </a:xfrm>
          <a:prstGeom prst="rect">
            <a:avLst/>
          </a:prstGeom>
          <a:noFill/>
          <a:ln>
            <a:noFill/>
          </a:ln>
        </p:spPr>
      </p:pic>
      <p:pic>
        <p:nvPicPr>
          <p:cNvPr id="132" name="Google Shape;132;p16" descr="image.png"/>
          <p:cNvPicPr preferRelativeResize="0"/>
          <p:nvPr/>
        </p:nvPicPr>
        <p:blipFill rotWithShape="1">
          <a:blip r:embed="rId3"/>
          <a:srcRect/>
          <a:stretch>
            <a:fillRect/>
          </a:stretch>
        </p:blipFill>
        <p:spPr>
          <a:xfrm>
            <a:off x="6262370" y="2823845"/>
            <a:ext cx="5262245" cy="2464435"/>
          </a:xfrm>
          <a:prstGeom prst="rect">
            <a:avLst/>
          </a:prstGeom>
          <a:noFill/>
          <a:ln>
            <a:noFill/>
          </a:ln>
        </p:spPr>
      </p:pic>
      <p:sp>
        <p:nvSpPr>
          <p:cNvPr id="133" name="Google Shape;133;p16"/>
          <p:cNvSpPr txBox="1"/>
          <p:nvPr/>
        </p:nvSpPr>
        <p:spPr>
          <a:xfrm>
            <a:off x="962025"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Khó khăn quản trị cũ</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134" name="Google Shape;134;p16"/>
          <p:cNvSpPr/>
          <p:nvPr/>
        </p:nvSpPr>
        <p:spPr>
          <a:xfrm>
            <a:off x="962025"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35" name="Google Shape;135;p16"/>
          <p:cNvSpPr txBox="1"/>
          <p:nvPr/>
        </p:nvSpPr>
        <p:spPr>
          <a:xfrm>
            <a:off x="962025" y="3490912"/>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Lưu trữ rời rạc:</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Thông tin sản phẩm và kiểm kho được thực hiện thủ công bằng các bảng file Excel rời rạc rườm rà.</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36" name="Google Shape;136;p16"/>
          <p:cNvSpPr txBox="1"/>
          <p:nvPr/>
        </p:nvSpPr>
        <p:spPr>
          <a:xfrm>
            <a:off x="962025" y="438626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Thất lạc thông tin:</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Sổ sách ghi chép thông tin khách hàng và lịch sử giao dịch dễ bị thất lạc.</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37" name="Google Shape;137;p16"/>
          <p:cNvSpPr txBox="1"/>
          <p:nvPr/>
        </p:nvSpPr>
        <p:spPr>
          <a:xfrm>
            <a:off x="6557962"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Quy trình bán hàng cũ</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138" name="Google Shape;138;p16"/>
          <p:cNvSpPr/>
          <p:nvPr/>
        </p:nvSpPr>
        <p:spPr>
          <a:xfrm>
            <a:off x="6557962"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39" name="Google Shape;139;p16"/>
          <p:cNvSpPr txBox="1"/>
          <p:nvPr/>
        </p:nvSpPr>
        <p:spPr>
          <a:xfrm>
            <a:off x="6557962" y="3490912"/>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Trôi đơn hàng:</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Tiếp nhận đơn hàng thủ công qua điện thoại, Facebook hoặc Zalo, dễ dẫn đến tình trạng bị sót hoặc trôi thông tin.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40" name="Google Shape;140;p16"/>
          <p:cNvSpPr txBox="1"/>
          <p:nvPr/>
        </p:nvSpPr>
        <p:spPr>
          <a:xfrm>
            <a:off x="6500812" y="445992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Tốn thời gian:</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Thống kê doanh thu cộng sổ bằng tay mất nhiều công sức và dễ xảy ra sai sót.</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41" name="Google Shape;141;p16"/>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1.2. Khảo sát hiện trạng</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142" name="Google Shape;142;p16"/>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46" name="Shape 146"/>
        <p:cNvGrpSpPr/>
        <p:nvPr/>
      </p:nvGrpSpPr>
      <p:grpSpPr>
        <a:xfrm>
          <a:off x="0" y="0"/>
          <a:ext cx="0" cy="0"/>
          <a:chOff x="0" y="0"/>
          <a:chExt cx="0" cy="0"/>
        </a:xfrm>
      </p:grpSpPr>
      <p:pic>
        <p:nvPicPr>
          <p:cNvPr id="147" name="Google Shape;147;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48" name="Google Shape;148;p17" descr="image.png"/>
          <p:cNvPicPr preferRelativeResize="0"/>
          <p:nvPr/>
        </p:nvPicPr>
        <p:blipFill rotWithShape="1">
          <a:blip r:embed="rId2"/>
          <a:srcRect/>
          <a:stretch>
            <a:fillRect/>
          </a:stretch>
        </p:blipFill>
        <p:spPr>
          <a:xfrm>
            <a:off x="666750" y="2420540"/>
            <a:ext cx="10858500" cy="2616993"/>
          </a:xfrm>
          <a:prstGeom prst="rect">
            <a:avLst/>
          </a:prstGeom>
          <a:noFill/>
          <a:ln>
            <a:noFill/>
          </a:ln>
        </p:spPr>
      </p:pic>
      <p:graphicFrame>
        <p:nvGraphicFramePr>
          <p:cNvPr id="149" name="Google Shape;149;p17"/>
          <p:cNvGraphicFramePr/>
          <p:nvPr/>
        </p:nvGraphicFramePr>
        <p:xfrm>
          <a:off x="676275" y="2430065"/>
          <a:ext cx="10839475" cy="3000000"/>
        </p:xfrm>
        <a:graphic>
          <a:graphicData uri="http://schemas.openxmlformats.org/drawingml/2006/table">
            <a:tbl>
              <a:tblPr firstRow="1" bandRow="1">
                <a:noFill/>
                <a:tableStyleId>{7663FC6A-6F38-4B7B-9050-8D1B1B5FE652}</a:tableStyleId>
              </a:tblPr>
              <a:tblGrid>
                <a:gridCol w="1083925"/>
                <a:gridCol w="4877700"/>
                <a:gridCol w="4877850"/>
              </a:tblGrid>
              <a:tr h="433000">
                <a:tc>
                  <a:txBody>
                    <a:bodyPr/>
                    <a:lstStyle/>
                    <a:p>
                      <a:pPr marL="0" marR="0" lvl="0" indent="0" algn="l" rtl="0">
                        <a:spcBef>
                          <a:spcPts val="0"/>
                        </a:spcBef>
                        <a:spcAft>
                          <a:spcPts val="0"/>
                        </a:spcAft>
                        <a:buNone/>
                      </a:pPr>
                      <a:r>
                        <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rPr>
                        <a:t>STT</a:t>
                      </a:r>
                      <a:endPar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c>
                  <a:txBody>
                    <a:bodyPr/>
                    <a:lstStyle/>
                    <a:p>
                      <a:pPr marL="0" marR="0" lvl="0" indent="0" algn="l" rtl="0">
                        <a:spcBef>
                          <a:spcPts val="0"/>
                        </a:spcBef>
                        <a:spcAft>
                          <a:spcPts val="0"/>
                        </a:spcAft>
                        <a:buNone/>
                      </a:pPr>
                      <a:r>
                        <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rPr>
                        <a:t>Hạn chế hiện tại</a:t>
                      </a:r>
                      <a:endPar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c>
                  <a:txBody>
                    <a:bodyPr/>
                    <a:lstStyle/>
                    <a:p>
                      <a:pPr marL="0" marR="0" lvl="0" indent="0" algn="l" rtl="0">
                        <a:spcBef>
                          <a:spcPts val="0"/>
                        </a:spcBef>
                        <a:spcAft>
                          <a:spcPts val="0"/>
                        </a:spcAft>
                        <a:buNone/>
                      </a:pPr>
                      <a:r>
                        <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rPr>
                        <a:t>Mức độ ảnh hưởng</a:t>
                      </a:r>
                      <a:endPar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r>
              <a:tr h="433000">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1</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Dữ liệu phân tán, rời rạc</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EF4444"/>
                          </a:solidFill>
                          <a:latin typeface="Times New Roman" panose="02020603050405020304" charset="0"/>
                          <a:ea typeface="Plus Jakarta Sans SemiBold"/>
                          <a:cs typeface="Times New Roman" panose="02020603050405020304" charset="0"/>
                          <a:sym typeface="Plus Jakarta Sans SemiBold"/>
                        </a:rPr>
                        <a:t>Cao</a:t>
                      </a:r>
                      <a:endParaRPr lang="en-US" sz="1600" b="0" i="0" u="none" strike="noStrike" cap="none">
                        <a:solidFill>
                          <a:srgbClr val="EF4444"/>
                        </a:solidFill>
                        <a:latin typeface="Times New Roman" panose="02020603050405020304" charset="0"/>
                        <a:ea typeface="Plus Jakarta Sans SemiBold"/>
                        <a:cs typeface="Times New Roman" panose="02020603050405020304" charset="0"/>
                        <a:sym typeface="Plus Jakarta Sans SemiBold"/>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33000">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2</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Dễ xảy ra sai sót khi nhập liệu thủ công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EF4444"/>
                          </a:solidFill>
                          <a:latin typeface="Times New Roman" panose="02020603050405020304" charset="0"/>
                          <a:ea typeface="Plus Jakarta Sans SemiBold"/>
                          <a:cs typeface="Times New Roman" panose="02020603050405020304" charset="0"/>
                          <a:sym typeface="Plus Jakarta Sans SemiBold"/>
                        </a:rPr>
                        <a:t>Nghiêm trọng</a:t>
                      </a:r>
                      <a:endParaRPr lang="en-US" sz="1600" b="0" i="0" u="none" strike="noStrike" cap="none">
                        <a:solidFill>
                          <a:srgbClr val="EF4444"/>
                        </a:solidFill>
                        <a:latin typeface="Times New Roman" panose="02020603050405020304" charset="0"/>
                        <a:ea typeface="Plus Jakarta Sans SemiBold"/>
                        <a:cs typeface="Times New Roman" panose="02020603050405020304" charset="0"/>
                        <a:sym typeface="Plus Jakarta Sans SemiBold"/>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33000">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3</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Khó khăn trong việc tìm kiếm lịch sử giao dịch</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Trung bình</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33000">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4</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Chưa có kênh bán hàng trực tuyến 24/7</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EF4444"/>
                          </a:solidFill>
                          <a:latin typeface="Times New Roman" panose="02020603050405020304" charset="0"/>
                          <a:ea typeface="Plus Jakarta Sans SemiBold"/>
                          <a:cs typeface="Times New Roman" panose="02020603050405020304" charset="0"/>
                          <a:sym typeface="Plus Jakarta Sans SemiBold"/>
                        </a:rPr>
                        <a:t>Cao</a:t>
                      </a:r>
                      <a:endParaRPr lang="en-US" sz="1600" b="0" i="0" u="none" strike="noStrike" cap="none">
                        <a:solidFill>
                          <a:srgbClr val="EF4444"/>
                        </a:solidFill>
                        <a:latin typeface="Times New Roman" panose="02020603050405020304" charset="0"/>
                        <a:ea typeface="Plus Jakarta Sans SemiBold"/>
                        <a:cs typeface="Times New Roman" panose="02020603050405020304" charset="0"/>
                        <a:sym typeface="Plus Jakarta Sans SemiBold"/>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33000">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5</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Khó thống kê doanh thu chính xác</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EF4444"/>
                          </a:solidFill>
                          <a:latin typeface="Times New Roman" panose="02020603050405020304" charset="0"/>
                          <a:ea typeface="Plus Jakarta Sans SemiBold"/>
                          <a:cs typeface="Times New Roman" panose="02020603050405020304" charset="0"/>
                          <a:sym typeface="Plus Jakarta Sans SemiBold"/>
                        </a:rPr>
                        <a:t>Nghiêm trọng</a:t>
                      </a:r>
                      <a:endParaRPr lang="en-US" sz="1600" b="0" i="0" u="none" strike="noStrike" cap="none">
                        <a:solidFill>
                          <a:srgbClr val="EF4444"/>
                        </a:solidFill>
                        <a:latin typeface="Times New Roman" panose="02020603050405020304" charset="0"/>
                        <a:ea typeface="Plus Jakarta Sans SemiBold"/>
                        <a:cs typeface="Times New Roman" panose="02020603050405020304" charset="0"/>
                        <a:sym typeface="Plus Jakarta Sans SemiBold"/>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bl>
          </a:graphicData>
        </a:graphic>
      </p:graphicFrame>
      <p:sp>
        <p:nvSpPr>
          <p:cNvPr id="150" name="Google Shape;150;p17"/>
          <p:cNvSpPr/>
          <p:nvPr/>
        </p:nvSpPr>
        <p:spPr>
          <a:xfrm>
            <a:off x="676275" y="2868215"/>
            <a:ext cx="1083915"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51" name="Google Shape;151;p17"/>
          <p:cNvSpPr/>
          <p:nvPr/>
        </p:nvSpPr>
        <p:spPr>
          <a:xfrm>
            <a:off x="1760190" y="2868215"/>
            <a:ext cx="487769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52" name="Google Shape;152;p17"/>
          <p:cNvSpPr/>
          <p:nvPr/>
        </p:nvSpPr>
        <p:spPr>
          <a:xfrm>
            <a:off x="6637883" y="2868215"/>
            <a:ext cx="4877841"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53" name="Google Shape;153;p17"/>
          <p:cNvSpPr/>
          <p:nvPr/>
        </p:nvSpPr>
        <p:spPr>
          <a:xfrm>
            <a:off x="676275" y="3299221"/>
            <a:ext cx="1083915"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54" name="Google Shape;154;p17"/>
          <p:cNvSpPr/>
          <p:nvPr/>
        </p:nvSpPr>
        <p:spPr>
          <a:xfrm>
            <a:off x="1760190" y="3299221"/>
            <a:ext cx="487769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55" name="Google Shape;155;p17"/>
          <p:cNvSpPr/>
          <p:nvPr/>
        </p:nvSpPr>
        <p:spPr>
          <a:xfrm>
            <a:off x="6637883" y="3299221"/>
            <a:ext cx="4877841"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56" name="Google Shape;156;p17"/>
          <p:cNvSpPr/>
          <p:nvPr/>
        </p:nvSpPr>
        <p:spPr>
          <a:xfrm>
            <a:off x="676275" y="3730228"/>
            <a:ext cx="1083915"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57" name="Google Shape;157;p17"/>
          <p:cNvSpPr/>
          <p:nvPr/>
        </p:nvSpPr>
        <p:spPr>
          <a:xfrm>
            <a:off x="1760190" y="3730228"/>
            <a:ext cx="487769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58" name="Google Shape;158;p17"/>
          <p:cNvSpPr/>
          <p:nvPr/>
        </p:nvSpPr>
        <p:spPr>
          <a:xfrm>
            <a:off x="6637883" y="3730228"/>
            <a:ext cx="4877841"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59" name="Google Shape;159;p17"/>
          <p:cNvSpPr/>
          <p:nvPr/>
        </p:nvSpPr>
        <p:spPr>
          <a:xfrm>
            <a:off x="676275" y="4161234"/>
            <a:ext cx="1083915"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60" name="Google Shape;160;p17"/>
          <p:cNvSpPr/>
          <p:nvPr/>
        </p:nvSpPr>
        <p:spPr>
          <a:xfrm>
            <a:off x="1760190" y="4161234"/>
            <a:ext cx="487769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61" name="Google Shape;161;p17"/>
          <p:cNvSpPr/>
          <p:nvPr/>
        </p:nvSpPr>
        <p:spPr>
          <a:xfrm>
            <a:off x="6637883" y="4161234"/>
            <a:ext cx="4877841"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62" name="Google Shape;162;p17"/>
          <p:cNvSpPr/>
          <p:nvPr/>
        </p:nvSpPr>
        <p:spPr>
          <a:xfrm>
            <a:off x="676275" y="4592240"/>
            <a:ext cx="1083915"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63" name="Google Shape;163;p17"/>
          <p:cNvSpPr/>
          <p:nvPr/>
        </p:nvSpPr>
        <p:spPr>
          <a:xfrm>
            <a:off x="1760190" y="4592240"/>
            <a:ext cx="487769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64" name="Google Shape;164;p17"/>
          <p:cNvSpPr/>
          <p:nvPr/>
        </p:nvSpPr>
        <p:spPr>
          <a:xfrm>
            <a:off x="6637883" y="4592240"/>
            <a:ext cx="4877841"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65" name="Google Shape;165;p17"/>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Những tồn tại của hệ thống cũ</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166" name="Google Shape;166;p17"/>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70" name="Shape 170"/>
        <p:cNvGrpSpPr/>
        <p:nvPr/>
      </p:nvGrpSpPr>
      <p:grpSpPr>
        <a:xfrm>
          <a:off x="0" y="0"/>
          <a:ext cx="0" cy="0"/>
          <a:chOff x="0" y="0"/>
          <a:chExt cx="0" cy="0"/>
        </a:xfrm>
      </p:grpSpPr>
      <p:pic>
        <p:nvPicPr>
          <p:cNvPr id="171" name="Google Shape;171;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72" name="Google Shape;172;p18" descr="image.png"/>
          <p:cNvPicPr preferRelativeResize="0"/>
          <p:nvPr/>
        </p:nvPicPr>
        <p:blipFill rotWithShape="1">
          <a:blip r:embed="rId2"/>
          <a:srcRect/>
          <a:stretch>
            <a:fillRect/>
          </a:stretch>
        </p:blipFill>
        <p:spPr>
          <a:xfrm>
            <a:off x="666750" y="2823845"/>
            <a:ext cx="5262245" cy="2398395"/>
          </a:xfrm>
          <a:prstGeom prst="rect">
            <a:avLst/>
          </a:prstGeom>
          <a:noFill/>
          <a:ln>
            <a:noFill/>
          </a:ln>
        </p:spPr>
      </p:pic>
      <p:pic>
        <p:nvPicPr>
          <p:cNvPr id="173" name="Google Shape;173;p18" descr="image.png"/>
          <p:cNvPicPr preferRelativeResize="0"/>
          <p:nvPr/>
        </p:nvPicPr>
        <p:blipFill rotWithShape="1">
          <a:blip r:embed="rId3"/>
          <a:srcRect/>
          <a:stretch>
            <a:fillRect/>
          </a:stretch>
        </p:blipFill>
        <p:spPr>
          <a:xfrm>
            <a:off x="6262370" y="2823845"/>
            <a:ext cx="5262245" cy="2398395"/>
          </a:xfrm>
          <a:prstGeom prst="rect">
            <a:avLst/>
          </a:prstGeom>
          <a:noFill/>
          <a:ln>
            <a:noFill/>
          </a:ln>
        </p:spPr>
      </p:pic>
      <p:sp>
        <p:nvSpPr>
          <p:cNvPr id="174" name="Google Shape;174;p18"/>
          <p:cNvSpPr txBox="1"/>
          <p:nvPr/>
        </p:nvSpPr>
        <p:spPr>
          <a:xfrm>
            <a:off x="962025"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Tài khoản &amp; Tìm kiếm</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175" name="Google Shape;175;p18"/>
          <p:cNvSpPr/>
          <p:nvPr/>
        </p:nvSpPr>
        <p:spPr>
          <a:xfrm>
            <a:off x="962025"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76" name="Google Shape;176;p18"/>
          <p:cNvSpPr txBox="1"/>
          <p:nvPr/>
        </p:nvSpPr>
        <p:spPr>
          <a:xfrm>
            <a:off x="962025" y="349091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Xác thực tài khoản:</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Đăng ký &amp; Đăng nhập để tạo hồ sơ cá nhân và lưu trữ lịch sử mua hàng dài hạn.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77" name="Google Shape;177;p18"/>
          <p:cNvSpPr txBox="1"/>
          <p:nvPr/>
        </p:nvSpPr>
        <p:spPr>
          <a:xfrm>
            <a:off x="962025" y="438626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Tìm kiếm sản phẩm:</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Bộ lọc thông minh cho phép tìm kiếm nước hoa theo thương hiệu, dung tích, giá thành.</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78" name="Google Shape;178;p18"/>
          <p:cNvSpPr txBox="1"/>
          <p:nvPr/>
        </p:nvSpPr>
        <p:spPr>
          <a:xfrm>
            <a:off x="6557962"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Giỏ hàng &amp; Thanh toán</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179" name="Google Shape;179;p18"/>
          <p:cNvSpPr/>
          <p:nvPr/>
        </p:nvSpPr>
        <p:spPr>
          <a:xfrm>
            <a:off x="6557962"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80" name="Google Shape;180;p18"/>
          <p:cNvSpPr txBox="1"/>
          <p:nvPr/>
        </p:nvSpPr>
        <p:spPr>
          <a:xfrm>
            <a:off x="6557962" y="349091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Quản lý giỏ hàng:</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Cho phép thêm, bớt và tự động cập nhật số lượng sản phẩm trước khi mua.</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81" name="Google Shape;181;p18"/>
          <p:cNvSpPr txBox="1"/>
          <p:nvPr/>
        </p:nvSpPr>
        <p:spPr>
          <a:xfrm>
            <a:off x="6557962" y="438626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Thanh toán trực tiếp:</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Cung cấp biểu mẫu điền địa chỉ giao nhận và phương thức thanh toán an toàn.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82" name="Google Shape;182;p18"/>
          <p:cNvSpPr txBox="1"/>
          <p:nvPr/>
        </p:nvSpPr>
        <p:spPr>
          <a:xfrm>
            <a:off x="809625" y="476250"/>
            <a:ext cx="11251406" cy="6153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000" b="1" i="0" u="none" strike="noStrike" cap="none">
                <a:solidFill>
                  <a:srgbClr val="1C1613"/>
                </a:solidFill>
                <a:latin typeface="Times New Roman" panose="02020603050405020304" charset="0"/>
                <a:ea typeface="Playfair Display"/>
                <a:cs typeface="Times New Roman" panose="02020603050405020304" charset="0"/>
                <a:sym typeface="Playfair Display"/>
              </a:rPr>
              <a:t>Yêu cầu nghiệp vụ khách hàng</a:t>
            </a:r>
            <a:endParaRPr lang="en-US" sz="40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183" name="Google Shape;183;p18"/>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87" name="Shape 187"/>
        <p:cNvGrpSpPr/>
        <p:nvPr/>
      </p:nvGrpSpPr>
      <p:grpSpPr>
        <a:xfrm>
          <a:off x="0" y="0"/>
          <a:ext cx="0" cy="0"/>
          <a:chOff x="0" y="0"/>
          <a:chExt cx="0" cy="0"/>
        </a:xfrm>
      </p:grpSpPr>
      <p:pic>
        <p:nvPicPr>
          <p:cNvPr id="188" name="Google Shape;188;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89" name="Google Shape;189;p19" descr="image.png"/>
          <p:cNvPicPr preferRelativeResize="0"/>
          <p:nvPr/>
        </p:nvPicPr>
        <p:blipFill rotWithShape="1">
          <a:blip r:embed="rId2"/>
          <a:srcRect/>
          <a:stretch>
            <a:fillRect/>
          </a:stretch>
        </p:blipFill>
        <p:spPr>
          <a:xfrm>
            <a:off x="666750" y="2823845"/>
            <a:ext cx="5262245" cy="2734310"/>
          </a:xfrm>
          <a:prstGeom prst="rect">
            <a:avLst/>
          </a:prstGeom>
          <a:noFill/>
          <a:ln>
            <a:noFill/>
          </a:ln>
        </p:spPr>
      </p:pic>
      <p:pic>
        <p:nvPicPr>
          <p:cNvPr id="190" name="Google Shape;190;p19" descr="image.png"/>
          <p:cNvPicPr preferRelativeResize="0"/>
          <p:nvPr/>
        </p:nvPicPr>
        <p:blipFill rotWithShape="1">
          <a:blip r:embed="rId3"/>
          <a:srcRect/>
          <a:stretch>
            <a:fillRect/>
          </a:stretch>
        </p:blipFill>
        <p:spPr>
          <a:xfrm>
            <a:off x="6262370" y="2823845"/>
            <a:ext cx="5262245" cy="2734310"/>
          </a:xfrm>
          <a:prstGeom prst="rect">
            <a:avLst/>
          </a:prstGeom>
          <a:noFill/>
          <a:ln>
            <a:noFill/>
          </a:ln>
        </p:spPr>
      </p:pic>
      <p:sp>
        <p:nvSpPr>
          <p:cNvPr id="191" name="Google Shape;191;p19"/>
          <p:cNvSpPr txBox="1"/>
          <p:nvPr/>
        </p:nvSpPr>
        <p:spPr>
          <a:xfrm>
            <a:off x="962025"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Cơ sở dữ liệu hàng hóa</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192" name="Google Shape;192;p19"/>
          <p:cNvSpPr/>
          <p:nvPr/>
        </p:nvSpPr>
        <p:spPr>
          <a:xfrm>
            <a:off x="962025"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93" name="Google Shape;193;p19"/>
          <p:cNvSpPr txBox="1"/>
          <p:nvPr/>
        </p:nvSpPr>
        <p:spPr>
          <a:xfrm>
            <a:off x="962025" y="3490912"/>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Quản lý sản phẩm:</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Hỗ trợ các tác vụ thêm mới, cập nhật giá bán, chỉnh sửa mô tả chi tiết và xóa sản phẩm khi hết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94" name="Google Shape;194;p19"/>
          <p:cNvSpPr txBox="1"/>
          <p:nvPr/>
        </p:nvSpPr>
        <p:spPr>
          <a:xfrm>
            <a:off x="962025" y="4522787"/>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Phân cấp danh mục:</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Phân loại nhóm hàng khoa học như nước hoa Nam, Nữ, Unisex.</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95" name="Google Shape;195;p19"/>
          <p:cNvSpPr txBox="1"/>
          <p:nvPr/>
        </p:nvSpPr>
        <p:spPr>
          <a:xfrm>
            <a:off x="6557962"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Xử lý vận hành</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196" name="Google Shape;196;p19"/>
          <p:cNvSpPr/>
          <p:nvPr/>
        </p:nvSpPr>
        <p:spPr>
          <a:xfrm>
            <a:off x="6557962"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97" name="Google Shape;197;p19"/>
          <p:cNvSpPr txBox="1"/>
          <p:nvPr/>
        </p:nvSpPr>
        <p:spPr>
          <a:xfrm>
            <a:off x="6557962" y="349091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Kiểm soát đơn hàng:</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Theo dõi quy trình phê duyệt đơn hàng và chuyển trạng thái lộ trình giao vận.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98" name="Google Shape;198;p19"/>
          <p:cNvSpPr txBox="1"/>
          <p:nvPr/>
        </p:nvSpPr>
        <p:spPr>
          <a:xfrm>
            <a:off x="6558597" y="4225607"/>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Thống kê tài chính:</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Tự động tổng hợp và kết xuất báo cáo doanh thu trực quan theo thời gian thực.</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199" name="Google Shape;199;p19"/>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Yêu cầu nghiệp vụ quản trị</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200" name="Google Shape;200;p19"/>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204" name="Shape 204"/>
        <p:cNvGrpSpPr/>
        <p:nvPr/>
      </p:nvGrpSpPr>
      <p:grpSpPr>
        <a:xfrm>
          <a:off x="0" y="0"/>
          <a:ext cx="0" cy="0"/>
          <a:chOff x="0" y="0"/>
          <a:chExt cx="0" cy="0"/>
        </a:xfrm>
      </p:grpSpPr>
      <p:pic>
        <p:nvPicPr>
          <p:cNvPr id="205" name="Google Shape;205;p20" descr="image.png"/>
          <p:cNvPicPr preferRelativeResize="0"/>
          <p:nvPr/>
        </p:nvPicPr>
        <p:blipFill rotWithShape="1">
          <a:blip r:embed="rId1"/>
          <a:srcRect/>
          <a:stretch>
            <a:fillRect/>
          </a:stretch>
        </p:blipFill>
        <p:spPr>
          <a:xfrm>
            <a:off x="0" y="0"/>
            <a:ext cx="12192000" cy="9232900"/>
          </a:xfrm>
          <a:prstGeom prst="rect">
            <a:avLst/>
          </a:prstGeom>
          <a:noFill/>
          <a:ln>
            <a:noFill/>
          </a:ln>
        </p:spPr>
      </p:pic>
      <p:pic>
        <p:nvPicPr>
          <p:cNvPr id="206" name="Google Shape;206;p20" descr="image.png"/>
          <p:cNvPicPr preferRelativeResize="0"/>
          <p:nvPr/>
        </p:nvPicPr>
        <p:blipFill rotWithShape="1">
          <a:blip r:embed="rId2"/>
          <a:srcRect/>
          <a:stretch>
            <a:fillRect/>
          </a:stretch>
        </p:blipFill>
        <p:spPr>
          <a:xfrm>
            <a:off x="666750" y="2823845"/>
            <a:ext cx="5262245" cy="2272665"/>
          </a:xfrm>
          <a:prstGeom prst="rect">
            <a:avLst/>
          </a:prstGeom>
          <a:noFill/>
          <a:ln>
            <a:noFill/>
          </a:ln>
        </p:spPr>
      </p:pic>
      <p:pic>
        <p:nvPicPr>
          <p:cNvPr id="207" name="Google Shape;207;p20" descr="image.png"/>
          <p:cNvPicPr preferRelativeResize="0"/>
          <p:nvPr/>
        </p:nvPicPr>
        <p:blipFill rotWithShape="1">
          <a:blip r:embed="rId3"/>
          <a:srcRect/>
          <a:stretch>
            <a:fillRect/>
          </a:stretch>
        </p:blipFill>
        <p:spPr>
          <a:xfrm>
            <a:off x="6262370" y="2823845"/>
            <a:ext cx="5262245" cy="2272665"/>
          </a:xfrm>
          <a:prstGeom prst="rect">
            <a:avLst/>
          </a:prstGeom>
          <a:noFill/>
          <a:ln>
            <a:noFill/>
          </a:ln>
        </p:spPr>
      </p:pic>
      <p:sp>
        <p:nvSpPr>
          <p:cNvPr id="208" name="Google Shape;208;p20"/>
          <p:cNvSpPr txBox="1"/>
          <p:nvPr/>
        </p:nvSpPr>
        <p:spPr>
          <a:xfrm>
            <a:off x="962025" y="3071495"/>
            <a:ext cx="4905375" cy="3098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Dữ liệu cốt lõi hệ thống</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209" name="Google Shape;209;p20"/>
          <p:cNvSpPr/>
          <p:nvPr/>
        </p:nvSpPr>
        <p:spPr>
          <a:xfrm>
            <a:off x="962025" y="3366770"/>
            <a:ext cx="4671695" cy="76200"/>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210" name="Google Shape;210;p20"/>
          <p:cNvSpPr txBox="1"/>
          <p:nvPr/>
        </p:nvSpPr>
        <p:spPr>
          <a:xfrm>
            <a:off x="962025" y="3490595"/>
            <a:ext cx="4671695" cy="53848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Khách hàng:</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Mã KH, Họ tên, Email, Số điện thoại, Địa chỉ, Tài khoản bảo mật.</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211" name="Google Shape;211;p20"/>
          <p:cNvSpPr txBox="1"/>
          <p:nvPr/>
        </p:nvSpPr>
        <p:spPr>
          <a:xfrm>
            <a:off x="962025" y="4213225"/>
            <a:ext cx="4671695" cy="53848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Sản phẩm:</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Mã sản phẩm, Tên nước hoa, Thương hiệu, Phân loại danh mục, Đơn giá, Tồn kho thực tế.</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212" name="Google Shape;212;p20"/>
          <p:cNvSpPr txBox="1"/>
          <p:nvPr/>
        </p:nvSpPr>
        <p:spPr>
          <a:xfrm>
            <a:off x="6557645" y="3071495"/>
            <a:ext cx="4905375" cy="3073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Dữ liệu giao dịch &amp; Quản lý</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213" name="Google Shape;213;p20"/>
          <p:cNvSpPr/>
          <p:nvPr/>
        </p:nvSpPr>
        <p:spPr>
          <a:xfrm>
            <a:off x="6557645" y="3366770"/>
            <a:ext cx="4671695" cy="76200"/>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214" name="Google Shape;214;p20"/>
          <p:cNvSpPr txBox="1"/>
          <p:nvPr/>
        </p:nvSpPr>
        <p:spPr>
          <a:xfrm>
            <a:off x="6557645" y="3490595"/>
            <a:ext cx="4671695" cy="53848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Đơn hàng:</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Mã đơn hàng, Ngày đặt, Tổng tiền hóa đơn, Trạng thái đơn, Mã liên kết khách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215" name="Google Shape;215;p20"/>
          <p:cNvSpPr txBox="1"/>
          <p:nvPr/>
        </p:nvSpPr>
        <p:spPr>
          <a:xfrm>
            <a:off x="6557645" y="4213225"/>
            <a:ext cx="4671695" cy="53848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Quản trị viên:</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Mã định danh Admin, Tên đăng nhập và Mật khẩu truy cập hệ thống.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216" name="Google Shape;216;p20"/>
          <p:cNvSpPr txBox="1"/>
          <p:nvPr/>
        </p:nvSpPr>
        <p:spPr>
          <a:xfrm>
            <a:off x="809625" y="476250"/>
            <a:ext cx="11251565" cy="48704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1.3.2. Yêu cầu cấu trúc dữ liệu</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217" name="Google Shape;217;p20"/>
          <p:cNvSpPr/>
          <p:nvPr/>
        </p:nvSpPr>
        <p:spPr>
          <a:xfrm>
            <a:off x="666750" y="476250"/>
            <a:ext cx="76200" cy="487045"/>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221" name="Shape 221"/>
        <p:cNvGrpSpPr/>
        <p:nvPr/>
      </p:nvGrpSpPr>
      <p:grpSpPr>
        <a:xfrm>
          <a:off x="0" y="0"/>
          <a:ext cx="0" cy="0"/>
          <a:chOff x="0" y="0"/>
          <a:chExt cx="0" cy="0"/>
        </a:xfrm>
      </p:grpSpPr>
      <p:pic>
        <p:nvPicPr>
          <p:cNvPr id="222" name="Google Shape;222;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23" name="Google Shape;223;p21" descr="image.png"/>
          <p:cNvPicPr preferRelativeResize="0"/>
          <p:nvPr/>
        </p:nvPicPr>
        <p:blipFill rotWithShape="1">
          <a:blip r:embed="rId2"/>
          <a:srcRect/>
          <a:stretch>
            <a:fillRect/>
          </a:stretch>
        </p:blipFill>
        <p:spPr>
          <a:xfrm>
            <a:off x="666750" y="2838450"/>
            <a:ext cx="3492500" cy="2340610"/>
          </a:xfrm>
          <a:prstGeom prst="rect">
            <a:avLst/>
          </a:prstGeom>
          <a:noFill/>
          <a:ln>
            <a:noFill/>
          </a:ln>
        </p:spPr>
      </p:pic>
      <p:pic>
        <p:nvPicPr>
          <p:cNvPr id="224" name="Google Shape;224;p21" descr="image.png"/>
          <p:cNvPicPr preferRelativeResize="0"/>
          <p:nvPr/>
        </p:nvPicPr>
        <p:blipFill rotWithShape="1">
          <a:blip r:embed="rId3"/>
          <a:srcRect/>
          <a:stretch>
            <a:fillRect/>
          </a:stretch>
        </p:blipFill>
        <p:spPr>
          <a:xfrm>
            <a:off x="4349750" y="2838450"/>
            <a:ext cx="3492500" cy="2340610"/>
          </a:xfrm>
          <a:prstGeom prst="rect">
            <a:avLst/>
          </a:prstGeom>
          <a:noFill/>
          <a:ln>
            <a:noFill/>
          </a:ln>
        </p:spPr>
      </p:pic>
      <p:pic>
        <p:nvPicPr>
          <p:cNvPr id="225" name="Google Shape;225;p21" descr="image.png"/>
          <p:cNvPicPr preferRelativeResize="0"/>
          <p:nvPr/>
        </p:nvPicPr>
        <p:blipFill rotWithShape="1">
          <a:blip r:embed="rId4"/>
          <a:srcRect/>
          <a:stretch>
            <a:fillRect/>
          </a:stretch>
        </p:blipFill>
        <p:spPr>
          <a:xfrm>
            <a:off x="8032750" y="2838450"/>
            <a:ext cx="3492500" cy="2340610"/>
          </a:xfrm>
          <a:prstGeom prst="rect">
            <a:avLst/>
          </a:prstGeom>
          <a:noFill/>
          <a:ln>
            <a:noFill/>
          </a:ln>
        </p:spPr>
      </p:pic>
      <p:pic>
        <p:nvPicPr>
          <p:cNvPr id="226" name="Google Shape;226;p21" descr="image.png"/>
          <p:cNvPicPr preferRelativeResize="0"/>
          <p:nvPr/>
        </p:nvPicPr>
        <p:blipFill rotWithShape="1">
          <a:blip r:embed="rId5"/>
          <a:srcRect/>
          <a:stretch>
            <a:fillRect/>
          </a:stretch>
        </p:blipFill>
        <p:spPr>
          <a:xfrm>
            <a:off x="914400" y="3086100"/>
            <a:ext cx="428625" cy="428625"/>
          </a:xfrm>
          <a:prstGeom prst="rect">
            <a:avLst/>
          </a:prstGeom>
          <a:noFill/>
          <a:ln>
            <a:noFill/>
          </a:ln>
        </p:spPr>
      </p:pic>
      <p:sp>
        <p:nvSpPr>
          <p:cNvPr id="227" name="Google Shape;227;p21"/>
          <p:cNvSpPr txBox="1"/>
          <p:nvPr/>
        </p:nvSpPr>
        <p:spPr>
          <a:xfrm>
            <a:off x="914400" y="3657600"/>
            <a:ext cx="3147112"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Hiệu năng tối ưu</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228" name="Google Shape;228;p21"/>
          <p:cNvSpPr txBox="1"/>
          <p:nvPr/>
        </p:nvSpPr>
        <p:spPr>
          <a:xfrm>
            <a:off x="914400" y="3971925"/>
            <a:ext cx="2997249"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Tốc độ phản hồi cực nhanh dưới 2s, hỗ trợ đa nhiệm người dùng cùng thao tác ổn định.</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pic>
        <p:nvPicPr>
          <p:cNvPr id="229" name="Google Shape;229;p21" descr="image.png"/>
          <p:cNvPicPr preferRelativeResize="0"/>
          <p:nvPr/>
        </p:nvPicPr>
        <p:blipFill rotWithShape="1">
          <a:blip r:embed="rId6"/>
          <a:srcRect/>
          <a:stretch>
            <a:fillRect/>
          </a:stretch>
        </p:blipFill>
        <p:spPr>
          <a:xfrm>
            <a:off x="4597449" y="3086100"/>
            <a:ext cx="428625" cy="428625"/>
          </a:xfrm>
          <a:prstGeom prst="rect">
            <a:avLst/>
          </a:prstGeom>
          <a:noFill/>
          <a:ln>
            <a:noFill/>
          </a:ln>
        </p:spPr>
      </p:pic>
      <p:sp>
        <p:nvSpPr>
          <p:cNvPr id="230" name="Google Shape;230;p21"/>
          <p:cNvSpPr txBox="1"/>
          <p:nvPr/>
        </p:nvSpPr>
        <p:spPr>
          <a:xfrm>
            <a:off x="4597449" y="3657600"/>
            <a:ext cx="3147112"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An toàn bảo mật</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231" name="Google Shape;231;p21"/>
          <p:cNvSpPr txBox="1"/>
          <p:nvPr/>
        </p:nvSpPr>
        <p:spPr>
          <a:xfrm>
            <a:off x="4597449" y="3971925"/>
            <a:ext cx="2997249"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Mã hóa một chiều mật khẩu, thiết lập Middleware phân quyền chặt chẽ cho trang Admin.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pic>
        <p:nvPicPr>
          <p:cNvPr id="232" name="Google Shape;232;p21" descr="image.png"/>
          <p:cNvPicPr preferRelativeResize="0"/>
          <p:nvPr/>
        </p:nvPicPr>
        <p:blipFill rotWithShape="1">
          <a:blip r:embed="rId7"/>
          <a:srcRect/>
          <a:stretch>
            <a:fillRect/>
          </a:stretch>
        </p:blipFill>
        <p:spPr>
          <a:xfrm>
            <a:off x="8280499" y="3086100"/>
            <a:ext cx="428625" cy="428625"/>
          </a:xfrm>
          <a:prstGeom prst="rect">
            <a:avLst/>
          </a:prstGeom>
          <a:noFill/>
          <a:ln>
            <a:noFill/>
          </a:ln>
        </p:spPr>
      </p:pic>
      <p:sp>
        <p:nvSpPr>
          <p:cNvPr id="233" name="Google Shape;233;p21"/>
          <p:cNvSpPr txBox="1"/>
          <p:nvPr/>
        </p:nvSpPr>
        <p:spPr>
          <a:xfrm>
            <a:off x="8280499" y="3657600"/>
            <a:ext cx="3147112"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Giao diện UI/UX</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234" name="Google Shape;234;p21"/>
          <p:cNvSpPr txBox="1"/>
          <p:nvPr/>
        </p:nvSpPr>
        <p:spPr>
          <a:xfrm>
            <a:off x="8280499" y="3971925"/>
            <a:ext cx="2997249"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Thiết kế Responsive thân thiện, hoạt động hoàn hảo trên cả nền tảng Mobile và Desktop.</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pic>
        <p:nvPicPr>
          <p:cNvPr id="235" name="Google Shape;235;p21" descr="image.png"/>
          <p:cNvPicPr preferRelativeResize="0"/>
          <p:nvPr/>
        </p:nvPicPr>
        <p:blipFill rotWithShape="1">
          <a:blip r:embed="rId8"/>
          <a:srcRect/>
          <a:stretch>
            <a:fillRect/>
          </a:stretch>
        </p:blipFill>
        <p:spPr>
          <a:xfrm>
            <a:off x="1042987" y="3205162"/>
            <a:ext cx="171450" cy="190500"/>
          </a:xfrm>
          <a:prstGeom prst="rect">
            <a:avLst/>
          </a:prstGeom>
          <a:noFill/>
          <a:ln>
            <a:noFill/>
          </a:ln>
        </p:spPr>
      </p:pic>
      <p:pic>
        <p:nvPicPr>
          <p:cNvPr id="236" name="Google Shape;236;p21" descr="image.png"/>
          <p:cNvPicPr preferRelativeResize="0"/>
          <p:nvPr/>
        </p:nvPicPr>
        <p:blipFill rotWithShape="1">
          <a:blip r:embed="rId9"/>
          <a:srcRect/>
          <a:stretch>
            <a:fillRect/>
          </a:stretch>
        </p:blipFill>
        <p:spPr>
          <a:xfrm>
            <a:off x="4716512" y="3205162"/>
            <a:ext cx="190500" cy="190500"/>
          </a:xfrm>
          <a:prstGeom prst="rect">
            <a:avLst/>
          </a:prstGeom>
          <a:noFill/>
          <a:ln>
            <a:noFill/>
          </a:ln>
        </p:spPr>
      </p:pic>
      <p:pic>
        <p:nvPicPr>
          <p:cNvPr id="237" name="Google Shape;237;p21" descr="image.png"/>
          <p:cNvPicPr preferRelativeResize="0"/>
          <p:nvPr/>
        </p:nvPicPr>
        <p:blipFill rotWithShape="1">
          <a:blip r:embed="rId10"/>
          <a:srcRect/>
          <a:stretch>
            <a:fillRect/>
          </a:stretch>
        </p:blipFill>
        <p:spPr>
          <a:xfrm>
            <a:off x="8423374" y="3205162"/>
            <a:ext cx="142875" cy="190500"/>
          </a:xfrm>
          <a:prstGeom prst="rect">
            <a:avLst/>
          </a:prstGeom>
          <a:noFill/>
          <a:ln>
            <a:noFill/>
          </a:ln>
        </p:spPr>
      </p:pic>
      <p:sp>
        <p:nvSpPr>
          <p:cNvPr id="238" name="Google Shape;238;p21"/>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1.5. Yêu cầu phi chức năng</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239" name="Google Shape;239;p21"/>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243" name="Shape 243"/>
        <p:cNvGrpSpPr/>
        <p:nvPr/>
      </p:nvGrpSpPr>
      <p:grpSpPr>
        <a:xfrm>
          <a:off x="0" y="0"/>
          <a:ext cx="0" cy="0"/>
          <a:chOff x="0" y="0"/>
          <a:chExt cx="0" cy="0"/>
        </a:xfrm>
      </p:grpSpPr>
      <p:pic>
        <p:nvPicPr>
          <p:cNvPr id="244" name="Google Shape;244;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45" name="Google Shape;245;p22" descr="image.png"/>
          <p:cNvPicPr preferRelativeResize="0"/>
          <p:nvPr/>
        </p:nvPicPr>
        <p:blipFill rotWithShape="1">
          <a:blip r:embed="rId2"/>
          <a:srcRect/>
          <a:stretch>
            <a:fillRect/>
          </a:stretch>
        </p:blipFill>
        <p:spPr>
          <a:xfrm>
            <a:off x="6262687" y="2062162"/>
            <a:ext cx="5262562" cy="3333750"/>
          </a:xfrm>
          <a:prstGeom prst="rect">
            <a:avLst/>
          </a:prstGeom>
          <a:noFill/>
          <a:ln>
            <a:noFill/>
          </a:ln>
        </p:spPr>
      </p:pic>
      <p:sp>
        <p:nvSpPr>
          <p:cNvPr id="246" name="Google Shape;246;p22"/>
          <p:cNvSpPr txBox="1"/>
          <p:nvPr/>
        </p:nvSpPr>
        <p:spPr>
          <a:xfrm>
            <a:off x="666750" y="2062162"/>
            <a:ext cx="5525690" cy="230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Các công nghệ chính được áp dụng</a:t>
            </a:r>
            <a:endParaRPr lang="en-US" sz="15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247" name="Google Shape;247;p22"/>
          <p:cNvSpPr txBox="1"/>
          <p:nvPr/>
        </p:nvSpPr>
        <p:spPr>
          <a:xfrm>
            <a:off x="1047750" y="2376487"/>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Backend:</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PHP &amp; MySQL (Xử lý logic nghiệp vụ và lưu trữ dữ liệu an toàn).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248" name="Google Shape;248;p22"/>
          <p:cNvSpPr txBox="1"/>
          <p:nvPr/>
        </p:nvSpPr>
        <p:spPr>
          <a:xfrm>
            <a:off x="1047750" y="3092707"/>
            <a:ext cx="4881562"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Frontend:</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HTML5, CSS3 và JavaScript thuần.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249" name="Google Shape;249;p22"/>
          <p:cNvSpPr txBox="1"/>
          <p:nvPr/>
        </p:nvSpPr>
        <p:spPr>
          <a:xfrm>
            <a:off x="1047750" y="3492063"/>
            <a:ext cx="4881562"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Framework:</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Bootstrap giúp tối ưu hóa giao diện di động.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250" name="Google Shape;250;p22"/>
          <p:cNvSpPr txBox="1"/>
          <p:nvPr/>
        </p:nvSpPr>
        <p:spPr>
          <a:xfrm>
            <a:off x="952500" y="3975238"/>
            <a:ext cx="4881562"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Môi trường:</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Hệ soạn thảo VS Code, máy chủ ảo XAMPP.</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pic>
        <p:nvPicPr>
          <p:cNvPr id="251" name="Google Shape;251;p22" descr="image.png"/>
          <p:cNvPicPr preferRelativeResize="0"/>
          <p:nvPr/>
        </p:nvPicPr>
        <p:blipFill rotWithShape="1">
          <a:blip r:embed="rId3"/>
          <a:srcRect/>
          <a:stretch>
            <a:fillRect/>
          </a:stretch>
        </p:blipFill>
        <p:spPr>
          <a:xfrm>
            <a:off x="6272212" y="2071687"/>
            <a:ext cx="5243512" cy="3314700"/>
          </a:xfrm>
          <a:prstGeom prst="rect">
            <a:avLst/>
          </a:prstGeom>
          <a:noFill/>
          <a:ln>
            <a:noFill/>
          </a:ln>
        </p:spPr>
      </p:pic>
      <p:pic>
        <p:nvPicPr>
          <p:cNvPr id="256" name="Google Shape;256;p22" descr="image.png"/>
          <p:cNvPicPr preferRelativeResize="0"/>
          <p:nvPr/>
        </p:nvPicPr>
        <p:blipFill rotWithShape="1">
          <a:blip r:embed="rId4"/>
          <a:srcRect/>
          <a:stretch>
            <a:fillRect/>
          </a:stretch>
        </p:blipFill>
        <p:spPr>
          <a:xfrm>
            <a:off x="714375" y="2479040"/>
            <a:ext cx="238125" cy="200025"/>
          </a:xfrm>
          <a:prstGeom prst="rect">
            <a:avLst/>
          </a:prstGeom>
          <a:noFill/>
          <a:ln>
            <a:noFill/>
          </a:ln>
        </p:spPr>
      </p:pic>
      <p:pic>
        <p:nvPicPr>
          <p:cNvPr id="257" name="Google Shape;257;p22" descr="image.png"/>
          <p:cNvPicPr preferRelativeResize="0"/>
          <p:nvPr/>
        </p:nvPicPr>
        <p:blipFill rotWithShape="1">
          <a:blip r:embed="rId5"/>
          <a:srcRect/>
          <a:stretch>
            <a:fillRect/>
          </a:stretch>
        </p:blipFill>
        <p:spPr>
          <a:xfrm>
            <a:off x="666750" y="3177480"/>
            <a:ext cx="219075" cy="200025"/>
          </a:xfrm>
          <a:prstGeom prst="rect">
            <a:avLst/>
          </a:prstGeom>
          <a:noFill/>
          <a:ln>
            <a:noFill/>
          </a:ln>
        </p:spPr>
      </p:pic>
      <p:pic>
        <p:nvPicPr>
          <p:cNvPr id="258" name="Google Shape;258;p22" descr="image.png"/>
          <p:cNvPicPr preferRelativeResize="0"/>
          <p:nvPr/>
        </p:nvPicPr>
        <p:blipFill rotWithShape="1">
          <a:blip r:embed="rId5"/>
          <a:srcRect/>
          <a:stretch>
            <a:fillRect/>
          </a:stretch>
        </p:blipFill>
        <p:spPr>
          <a:xfrm>
            <a:off x="666750" y="3612395"/>
            <a:ext cx="219075" cy="200025"/>
          </a:xfrm>
          <a:prstGeom prst="rect">
            <a:avLst/>
          </a:prstGeom>
          <a:noFill/>
          <a:ln>
            <a:noFill/>
          </a:ln>
        </p:spPr>
      </p:pic>
      <p:pic>
        <p:nvPicPr>
          <p:cNvPr id="259" name="Google Shape;259;p22" descr="image.png"/>
          <p:cNvPicPr preferRelativeResize="0"/>
          <p:nvPr/>
        </p:nvPicPr>
        <p:blipFill rotWithShape="1">
          <a:blip r:embed="rId6"/>
          <a:srcRect/>
          <a:stretch>
            <a:fillRect/>
          </a:stretch>
        </p:blipFill>
        <p:spPr>
          <a:xfrm>
            <a:off x="666750" y="4047311"/>
            <a:ext cx="190500" cy="200025"/>
          </a:xfrm>
          <a:prstGeom prst="rect">
            <a:avLst/>
          </a:prstGeom>
          <a:noFill/>
          <a:ln>
            <a:noFill/>
          </a:ln>
        </p:spPr>
      </p:pic>
      <p:sp>
        <p:nvSpPr>
          <p:cNvPr id="260" name="Google Shape;260;p22"/>
          <p:cNvSpPr txBox="1"/>
          <p:nvPr/>
        </p:nvSpPr>
        <p:spPr>
          <a:xfrm>
            <a:off x="809625" y="476250"/>
            <a:ext cx="11251406"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C1613"/>
                </a:solidFill>
                <a:latin typeface="Times New Roman" panose="02020603050405020304" charset="0"/>
                <a:ea typeface="Playfair Display"/>
                <a:cs typeface="Times New Roman" panose="02020603050405020304" charset="0"/>
                <a:sym typeface="Playfair Display"/>
              </a:rPr>
              <a:t>1.8. Lựa chọn công nghệ phát triển</a:t>
            </a:r>
            <a:endParaRPr lang="en-US" sz="255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261" name="Google Shape;261;p22"/>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pic>
        <p:nvPicPr>
          <p:cNvPr id="2" name="Picture 1" descr="2"/>
          <p:cNvPicPr>
            <a:picLocks noChangeAspect="1"/>
          </p:cNvPicPr>
          <p:nvPr/>
        </p:nvPicPr>
        <p:blipFill>
          <a:blip r:embed="rId7"/>
          <a:stretch>
            <a:fillRect/>
          </a:stretch>
        </p:blipFill>
        <p:spPr>
          <a:xfrm>
            <a:off x="6091555" y="1483360"/>
            <a:ext cx="5969635" cy="44970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265" name="Shape 265"/>
        <p:cNvGrpSpPr/>
        <p:nvPr/>
      </p:nvGrpSpPr>
      <p:grpSpPr>
        <a:xfrm>
          <a:off x="0" y="0"/>
          <a:ext cx="0" cy="0"/>
          <a:chOff x="0" y="0"/>
          <a:chExt cx="0" cy="0"/>
        </a:xfrm>
      </p:grpSpPr>
      <p:pic>
        <p:nvPicPr>
          <p:cNvPr id="266" name="Google Shape;266;p2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67" name="Google Shape;267;p23" descr="image.png"/>
          <p:cNvPicPr preferRelativeResize="0"/>
          <p:nvPr/>
        </p:nvPicPr>
        <p:blipFill rotWithShape="1">
          <a:blip r:embed="rId2"/>
          <a:srcRect/>
          <a:stretch>
            <a:fillRect/>
          </a:stretch>
        </p:blipFill>
        <p:spPr>
          <a:xfrm>
            <a:off x="666750" y="3714750"/>
            <a:ext cx="10858500" cy="28575"/>
          </a:xfrm>
          <a:prstGeom prst="rect">
            <a:avLst/>
          </a:prstGeom>
          <a:noFill/>
          <a:ln>
            <a:noFill/>
          </a:ln>
        </p:spPr>
      </p:pic>
      <p:sp>
        <p:nvSpPr>
          <p:cNvPr id="268" name="Google Shape;268;p23"/>
          <p:cNvSpPr/>
          <p:nvPr/>
        </p:nvSpPr>
        <p:spPr>
          <a:xfrm>
            <a:off x="1277242"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269" name="Google Shape;269;p23"/>
          <p:cNvSpPr txBox="1"/>
          <p:nvPr/>
        </p:nvSpPr>
        <p:spPr>
          <a:xfrm>
            <a:off x="631462"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Khảo sát</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270" name="Google Shape;270;p23"/>
          <p:cNvSpPr txBox="1"/>
          <p:nvPr/>
        </p:nvSpPr>
        <p:spPr>
          <a:xfrm>
            <a:off x="666750" y="3834407"/>
            <a:ext cx="1411485" cy="63944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Khảo sát nghiệp vụ &amp; thu thập.</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271" name="Google Shape;271;p23"/>
          <p:cNvSpPr/>
          <p:nvPr/>
        </p:nvSpPr>
        <p:spPr>
          <a:xfrm>
            <a:off x="3166616"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272" name="Google Shape;272;p23"/>
          <p:cNvSpPr txBox="1"/>
          <p:nvPr/>
        </p:nvSpPr>
        <p:spPr>
          <a:xfrm>
            <a:off x="2520835"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Phân tích</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273" name="Google Shape;273;p23"/>
          <p:cNvSpPr txBox="1"/>
          <p:nvPr/>
        </p:nvSpPr>
        <p:spPr>
          <a:xfrm>
            <a:off x="2556123" y="3834407"/>
            <a:ext cx="1411485" cy="63944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Định hình yêu cầu chức năng.</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274" name="Google Shape;274;p23"/>
          <p:cNvSpPr/>
          <p:nvPr/>
        </p:nvSpPr>
        <p:spPr>
          <a:xfrm>
            <a:off x="5055989"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275" name="Google Shape;275;p23"/>
          <p:cNvSpPr txBox="1"/>
          <p:nvPr/>
        </p:nvSpPr>
        <p:spPr>
          <a:xfrm>
            <a:off x="4410208"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Thiết kế</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276" name="Google Shape;276;p23"/>
          <p:cNvSpPr txBox="1"/>
          <p:nvPr/>
        </p:nvSpPr>
        <p:spPr>
          <a:xfrm>
            <a:off x="4445496" y="3834407"/>
            <a:ext cx="1411485" cy="63944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Thiết kế CSDL &amp; Giao diện.</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277" name="Google Shape;277;p23"/>
          <p:cNvSpPr/>
          <p:nvPr/>
        </p:nvSpPr>
        <p:spPr>
          <a:xfrm>
            <a:off x="6945362"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278" name="Google Shape;278;p23"/>
          <p:cNvSpPr txBox="1"/>
          <p:nvPr/>
        </p:nvSpPr>
        <p:spPr>
          <a:xfrm>
            <a:off x="6299581"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Lập trình</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279" name="Google Shape;279;p23"/>
          <p:cNvSpPr txBox="1"/>
          <p:nvPr/>
        </p:nvSpPr>
        <p:spPr>
          <a:xfrm>
            <a:off x="6334869" y="3834407"/>
            <a:ext cx="1411485" cy="95948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Hiện thực mã nguồn PHP/MySQL.</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280" name="Google Shape;280;p23"/>
          <p:cNvSpPr/>
          <p:nvPr/>
        </p:nvSpPr>
        <p:spPr>
          <a:xfrm>
            <a:off x="8834735"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281" name="Google Shape;281;p23"/>
          <p:cNvSpPr txBox="1"/>
          <p:nvPr/>
        </p:nvSpPr>
        <p:spPr>
          <a:xfrm>
            <a:off x="8188955"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Kiểm thử</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282" name="Google Shape;282;p23"/>
          <p:cNvSpPr txBox="1"/>
          <p:nvPr/>
        </p:nvSpPr>
        <p:spPr>
          <a:xfrm>
            <a:off x="8224242" y="3834407"/>
            <a:ext cx="1411485" cy="63944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Kiểm tra lỗi, sửa lỗi logic.</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283" name="Google Shape;283;p23"/>
          <p:cNvSpPr/>
          <p:nvPr/>
        </p:nvSpPr>
        <p:spPr>
          <a:xfrm>
            <a:off x="10724108"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284" name="Google Shape;284;p23"/>
          <p:cNvSpPr txBox="1"/>
          <p:nvPr/>
        </p:nvSpPr>
        <p:spPr>
          <a:xfrm>
            <a:off x="10078328"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Vận hành</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285" name="Google Shape;285;p23"/>
          <p:cNvSpPr txBox="1"/>
          <p:nvPr/>
        </p:nvSpPr>
        <p:spPr>
          <a:xfrm>
            <a:off x="10113615" y="3834407"/>
            <a:ext cx="1411485" cy="63944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Bảo trì và nâng cấp định kỳ.</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286" name="Google Shape;286;p23"/>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1.9. Quy trình mô hình Thác nước</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287" name="Google Shape;287;p23"/>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291" name="Shape 291"/>
        <p:cNvGrpSpPr/>
        <p:nvPr/>
      </p:nvGrpSpPr>
      <p:grpSpPr>
        <a:xfrm>
          <a:off x="0" y="0"/>
          <a:ext cx="0" cy="0"/>
          <a:chOff x="0" y="0"/>
          <a:chExt cx="0" cy="0"/>
        </a:xfrm>
      </p:grpSpPr>
      <p:pic>
        <p:nvPicPr>
          <p:cNvPr id="292" name="Google Shape;292;p2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93" name="Google Shape;293;p24" descr="image.png"/>
          <p:cNvPicPr preferRelativeResize="0"/>
          <p:nvPr/>
        </p:nvPicPr>
        <p:blipFill rotWithShape="1">
          <a:blip r:embed="rId2"/>
          <a:srcRect/>
          <a:stretch>
            <a:fillRect/>
          </a:stretch>
        </p:blipFill>
        <p:spPr>
          <a:xfrm>
            <a:off x="666750" y="2971800"/>
            <a:ext cx="5262245" cy="2362835"/>
          </a:xfrm>
          <a:prstGeom prst="rect">
            <a:avLst/>
          </a:prstGeom>
          <a:noFill/>
          <a:ln>
            <a:noFill/>
          </a:ln>
        </p:spPr>
      </p:pic>
      <p:pic>
        <p:nvPicPr>
          <p:cNvPr id="294" name="Google Shape;294;p24" descr="image.png"/>
          <p:cNvPicPr preferRelativeResize="0"/>
          <p:nvPr/>
        </p:nvPicPr>
        <p:blipFill rotWithShape="1">
          <a:blip r:embed="rId3"/>
          <a:srcRect/>
          <a:stretch>
            <a:fillRect/>
          </a:stretch>
        </p:blipFill>
        <p:spPr>
          <a:xfrm>
            <a:off x="6262370" y="2971800"/>
            <a:ext cx="5262245" cy="2362835"/>
          </a:xfrm>
          <a:prstGeom prst="rect">
            <a:avLst/>
          </a:prstGeom>
          <a:noFill/>
          <a:ln>
            <a:noFill/>
          </a:ln>
        </p:spPr>
      </p:pic>
      <p:sp>
        <p:nvSpPr>
          <p:cNvPr id="295" name="Google Shape;295;p24"/>
          <p:cNvSpPr txBox="1"/>
          <p:nvPr/>
        </p:nvSpPr>
        <p:spPr>
          <a:xfrm>
            <a:off x="962025"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Trải nghiệm tối giản &amp; Sang trọng</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296" name="Google Shape;296;p24"/>
          <p:cNvSpPr/>
          <p:nvPr/>
        </p:nvSpPr>
        <p:spPr>
          <a:xfrm>
            <a:off x="962025"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297" name="Google Shape;297;p24"/>
          <p:cNvSpPr txBox="1"/>
          <p:nvPr/>
        </p:nvSpPr>
        <p:spPr>
          <a:xfrm>
            <a:off x="962025" y="3638550"/>
            <a:ext cx="4672012" cy="14770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Mục tiêu lớn nhất là xây dựng giao diện bán nước hoa tôn vinh phong cách thương hiệu cao cấp. Cơ chế điều hướng thông minh giúp khách hàng chốt đơn cực kỳ tiện lợi.</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298" name="Google Shape;298;p24"/>
          <p:cNvSpPr txBox="1"/>
          <p:nvPr/>
        </p:nvSpPr>
        <p:spPr>
          <a:xfrm>
            <a:off x="6557962"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Quản trị khoa học &amp; Bảo mật</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299" name="Google Shape;299;p24"/>
          <p:cNvSpPr/>
          <p:nvPr/>
        </p:nvSpPr>
        <p:spPr>
          <a:xfrm>
            <a:off x="6557962"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00" name="Google Shape;300;p24"/>
          <p:cNvSpPr txBox="1"/>
          <p:nvPr/>
        </p:nvSpPr>
        <p:spPr>
          <a:xfrm>
            <a:off x="6557962" y="3638550"/>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Xây dựng hệ cơ sở dữ liệu quan hệ đồng bộ chặt chẽ, tối ưu hiệu năng truy vấn dữ liệu nhanh và dễ dàng mở rộng, bổ sung tính năng nghiệp vụ trong tương lai.</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301" name="Google Shape;301;p24"/>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2.1. Mục tiêu thiết kế hệ thống</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302" name="Google Shape;302;p24"/>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306" name="Shape 306"/>
        <p:cNvGrpSpPr/>
        <p:nvPr/>
      </p:nvGrpSpPr>
      <p:grpSpPr>
        <a:xfrm>
          <a:off x="0" y="0"/>
          <a:ext cx="0" cy="0"/>
          <a:chOff x="0" y="0"/>
          <a:chExt cx="0" cy="0"/>
        </a:xfrm>
      </p:grpSpPr>
      <p:pic>
        <p:nvPicPr>
          <p:cNvPr id="307" name="Google Shape;307;p25" descr="image.png"/>
          <p:cNvPicPr preferRelativeResize="0"/>
          <p:nvPr/>
        </p:nvPicPr>
        <p:blipFill rotWithShape="1">
          <a:blip r:embed="rId1"/>
          <a:srcRect/>
          <a:stretch>
            <a:fillRect/>
          </a:stretch>
        </p:blipFill>
        <p:spPr>
          <a:xfrm>
            <a:off x="134620" y="0"/>
            <a:ext cx="12192000" cy="6858000"/>
          </a:xfrm>
          <a:prstGeom prst="rect">
            <a:avLst/>
          </a:prstGeom>
          <a:noFill/>
          <a:ln>
            <a:noFill/>
          </a:ln>
        </p:spPr>
      </p:pic>
      <p:pic>
        <p:nvPicPr>
          <p:cNvPr id="308" name="Google Shape;308;p25" descr="image.png"/>
          <p:cNvPicPr preferRelativeResize="0"/>
          <p:nvPr/>
        </p:nvPicPr>
        <p:blipFill rotWithShape="1">
          <a:blip r:embed="rId2"/>
          <a:srcRect/>
          <a:stretch>
            <a:fillRect/>
          </a:stretch>
        </p:blipFill>
        <p:spPr>
          <a:xfrm>
            <a:off x="6262687" y="2062162"/>
            <a:ext cx="5262562" cy="3333750"/>
          </a:xfrm>
          <a:prstGeom prst="rect">
            <a:avLst/>
          </a:prstGeom>
          <a:noFill/>
          <a:ln>
            <a:noFill/>
          </a:ln>
        </p:spPr>
      </p:pic>
      <p:sp>
        <p:nvSpPr>
          <p:cNvPr id="309" name="Google Shape;309;p25"/>
          <p:cNvSpPr txBox="1"/>
          <p:nvPr/>
        </p:nvSpPr>
        <p:spPr>
          <a:xfrm>
            <a:off x="666750" y="2062162"/>
            <a:ext cx="5525690" cy="24574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Mô hình Kiến trúc 3 Lớp (3-Tier)</a:t>
            </a:r>
            <a:endParaRPr lang="en-US" sz="16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310" name="Google Shape;310;p25"/>
          <p:cNvSpPr txBox="1"/>
          <p:nvPr/>
        </p:nvSpPr>
        <p:spPr>
          <a:xfrm>
            <a:off x="1047750" y="2376487"/>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Presentation Layer:</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Lớp giao diện hiển thị HTML/CSS/JS tương tác trực tiếp với khách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311" name="Google Shape;311;p25"/>
          <p:cNvSpPr txBox="1"/>
          <p:nvPr/>
        </p:nvSpPr>
        <p:spPr>
          <a:xfrm>
            <a:off x="1047750" y="2921198"/>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Business Logic Layer:</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Lớp xử lý trung tâm bằng ngôn ngữ PHP thực hiện tính toán nghiệp vụ.</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312" name="Google Shape;312;p25"/>
          <p:cNvSpPr txBox="1"/>
          <p:nvPr/>
        </p:nvSpPr>
        <p:spPr>
          <a:xfrm>
            <a:off x="1047750" y="3465909"/>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Data Layer:</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Hệ quản trị cơ sở dữ liệu MySQL lưu trữ và truy vấn dữ liệu có cấu trúc.</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pic>
        <p:nvPicPr>
          <p:cNvPr id="313" name="Google Shape;313;p25" descr="image.png"/>
          <p:cNvPicPr preferRelativeResize="0"/>
          <p:nvPr/>
        </p:nvPicPr>
        <p:blipFill rotWithShape="1">
          <a:blip r:embed="rId3"/>
          <a:srcRect/>
          <a:stretch>
            <a:fillRect/>
          </a:stretch>
        </p:blipFill>
        <p:spPr>
          <a:xfrm>
            <a:off x="6272212" y="2071687"/>
            <a:ext cx="5243512" cy="3314700"/>
          </a:xfrm>
          <a:prstGeom prst="rect">
            <a:avLst/>
          </a:prstGeom>
          <a:noFill/>
          <a:ln>
            <a:noFill/>
          </a:ln>
        </p:spPr>
      </p:pic>
      <p:sp>
        <p:nvSpPr>
          <p:cNvPr id="314" name="Google Shape;314;p25"/>
          <p:cNvSpPr txBox="1"/>
          <p:nvPr/>
        </p:nvSpPr>
        <p:spPr>
          <a:xfrm>
            <a:off x="666750" y="2376487"/>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315" name="Google Shape;315;p25"/>
          <p:cNvSpPr txBox="1"/>
          <p:nvPr/>
        </p:nvSpPr>
        <p:spPr>
          <a:xfrm>
            <a:off x="666750" y="2921198"/>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316" name="Google Shape;316;p25"/>
          <p:cNvSpPr txBox="1"/>
          <p:nvPr/>
        </p:nvSpPr>
        <p:spPr>
          <a:xfrm>
            <a:off x="666750" y="3465909"/>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pic>
        <p:nvPicPr>
          <p:cNvPr id="317" name="Google Shape;317;p25" descr="image.png"/>
          <p:cNvPicPr preferRelativeResize="0"/>
          <p:nvPr/>
        </p:nvPicPr>
        <p:blipFill rotWithShape="1">
          <a:blip r:embed="rId4"/>
          <a:srcRect/>
          <a:stretch>
            <a:fillRect/>
          </a:stretch>
        </p:blipFill>
        <p:spPr>
          <a:xfrm>
            <a:off x="714375" y="2390775"/>
            <a:ext cx="219075" cy="200025"/>
          </a:xfrm>
          <a:prstGeom prst="rect">
            <a:avLst/>
          </a:prstGeom>
          <a:noFill/>
          <a:ln>
            <a:noFill/>
          </a:ln>
        </p:spPr>
      </p:pic>
      <p:pic>
        <p:nvPicPr>
          <p:cNvPr id="318" name="Google Shape;318;p25" descr="image.png"/>
          <p:cNvPicPr preferRelativeResize="0"/>
          <p:nvPr/>
        </p:nvPicPr>
        <p:blipFill rotWithShape="1">
          <a:blip r:embed="rId5"/>
          <a:srcRect/>
          <a:stretch>
            <a:fillRect/>
          </a:stretch>
        </p:blipFill>
        <p:spPr>
          <a:xfrm>
            <a:off x="714375" y="2935485"/>
            <a:ext cx="238125" cy="200025"/>
          </a:xfrm>
          <a:prstGeom prst="rect">
            <a:avLst/>
          </a:prstGeom>
          <a:noFill/>
          <a:ln>
            <a:noFill/>
          </a:ln>
        </p:spPr>
      </p:pic>
      <p:pic>
        <p:nvPicPr>
          <p:cNvPr id="319" name="Google Shape;319;p25" descr="image.png"/>
          <p:cNvPicPr preferRelativeResize="0"/>
          <p:nvPr/>
        </p:nvPicPr>
        <p:blipFill rotWithShape="1">
          <a:blip r:embed="rId6"/>
          <a:srcRect/>
          <a:stretch>
            <a:fillRect/>
          </a:stretch>
        </p:blipFill>
        <p:spPr>
          <a:xfrm>
            <a:off x="714375" y="3480196"/>
            <a:ext cx="171450" cy="200025"/>
          </a:xfrm>
          <a:prstGeom prst="rect">
            <a:avLst/>
          </a:prstGeom>
          <a:noFill/>
          <a:ln>
            <a:noFill/>
          </a:ln>
        </p:spPr>
      </p:pic>
      <p:sp>
        <p:nvSpPr>
          <p:cNvPr id="320" name="Google Shape;320;p25"/>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2.2. Thiết kế kiến trúc phân lớp</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321" name="Google Shape;321;p25"/>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pic>
        <p:nvPicPr>
          <p:cNvPr id="2" name="Picture 1" descr="3"/>
          <p:cNvPicPr>
            <a:picLocks noChangeAspect="1"/>
          </p:cNvPicPr>
          <p:nvPr/>
        </p:nvPicPr>
        <p:blipFill>
          <a:blip r:embed="rId7"/>
          <a:stretch>
            <a:fillRect/>
          </a:stretch>
        </p:blipFill>
        <p:spPr>
          <a:xfrm>
            <a:off x="5929630" y="1165860"/>
            <a:ext cx="6261735" cy="51403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325" name="Shape 325"/>
        <p:cNvGrpSpPr/>
        <p:nvPr/>
      </p:nvGrpSpPr>
      <p:grpSpPr>
        <a:xfrm>
          <a:off x="0" y="0"/>
          <a:ext cx="0" cy="0"/>
          <a:chOff x="0" y="0"/>
          <a:chExt cx="0" cy="0"/>
        </a:xfrm>
      </p:grpSpPr>
      <p:pic>
        <p:nvPicPr>
          <p:cNvPr id="326" name="Google Shape;326;p2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27" name="Google Shape;327;p26" descr="image.png"/>
          <p:cNvPicPr preferRelativeResize="0"/>
          <p:nvPr/>
        </p:nvPicPr>
        <p:blipFill rotWithShape="1">
          <a:blip r:embed="rId2"/>
          <a:srcRect/>
          <a:stretch>
            <a:fillRect/>
          </a:stretch>
        </p:blipFill>
        <p:spPr>
          <a:xfrm>
            <a:off x="666750" y="3067050"/>
            <a:ext cx="10858500" cy="1323975"/>
          </a:xfrm>
          <a:prstGeom prst="rect">
            <a:avLst/>
          </a:prstGeom>
          <a:noFill/>
          <a:ln>
            <a:noFill/>
          </a:ln>
        </p:spPr>
      </p:pic>
      <p:graphicFrame>
        <p:nvGraphicFramePr>
          <p:cNvPr id="328" name="Google Shape;328;p26"/>
          <p:cNvGraphicFramePr/>
          <p:nvPr/>
        </p:nvGraphicFramePr>
        <p:xfrm>
          <a:off x="676275" y="3076575"/>
          <a:ext cx="10839450" cy="3000000"/>
        </p:xfrm>
        <a:graphic>
          <a:graphicData uri="http://schemas.openxmlformats.org/drawingml/2006/table">
            <a:tbl>
              <a:tblPr firstRow="1" bandRow="1">
                <a:noFill/>
                <a:tableStyleId>{7663FC6A-6F38-4B7B-9050-8D1B1B5FE652}</a:tableStyleId>
              </a:tblPr>
              <a:tblGrid>
                <a:gridCol w="2709850"/>
                <a:gridCol w="4877700"/>
                <a:gridCol w="3251900"/>
              </a:tblGrid>
              <a:tr h="434975">
                <a:tc>
                  <a:txBody>
                    <a:bodyPr/>
                    <a:lstStyle/>
                    <a:p>
                      <a:pPr marL="0" marR="0" lvl="0" indent="0" algn="l" rtl="0">
                        <a:spcBef>
                          <a:spcPts val="0"/>
                        </a:spcBef>
                        <a:spcAft>
                          <a:spcPts val="0"/>
                        </a:spcAft>
                        <a:buNone/>
                      </a:pPr>
                      <a:r>
                        <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rPr>
                        <a:t>Bảng Cơ Sở Dữ Liệu</a:t>
                      </a:r>
                      <a:endPar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c>
                  <a:txBody>
                    <a:bodyPr/>
                    <a:lstStyle/>
                    <a:p>
                      <a:pPr marL="0" marR="0" lvl="0" indent="0" algn="l" rtl="0">
                        <a:spcBef>
                          <a:spcPts val="0"/>
                        </a:spcBef>
                        <a:spcAft>
                          <a:spcPts val="0"/>
                        </a:spcAft>
                        <a:buNone/>
                      </a:pPr>
                      <a:r>
                        <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rPr>
                        <a:t>Các Trường Dữ Liệu</a:t>
                      </a:r>
                      <a:endPar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c>
                  <a:txBody>
                    <a:bodyPr/>
                    <a:lstStyle/>
                    <a:p>
                      <a:pPr marL="0" marR="0" lvl="0" indent="0" algn="l" rtl="0">
                        <a:spcBef>
                          <a:spcPts val="0"/>
                        </a:spcBef>
                        <a:spcAft>
                          <a:spcPts val="0"/>
                        </a:spcAft>
                        <a:buNone/>
                      </a:pPr>
                      <a:r>
                        <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rPr>
                        <a:t>Ràng Buộc Chính</a:t>
                      </a:r>
                      <a:endPar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r>
              <a:tr h="434975">
                <a:tc>
                  <a:txBody>
                    <a:bodyPr/>
                    <a:lstStyle/>
                    <a:p>
                      <a:pPr marL="0" marR="0" lvl="0" indent="0" algn="l" rtl="0">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CATEGORIES</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(Danh mục)</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id, name (Nước hoa Nam, Nữ, Unisex)</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Mã danh mục làm khóa chính PK.</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34975">
                <a:tc>
                  <a:txBody>
                    <a:bodyPr/>
                    <a:lstStyle/>
                    <a:p>
                      <a:pPr marL="0" marR="0" lvl="0" indent="0" algn="l" rtl="0">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PRODUCTS</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(Sản phẩm)</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id, name, price, qty, category_id</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Trường category_id làm khóa ngoại FK liên kết.</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bl>
          </a:graphicData>
        </a:graphic>
      </p:graphicFrame>
      <p:sp>
        <p:nvSpPr>
          <p:cNvPr id="329" name="Google Shape;329;p26"/>
          <p:cNvSpPr/>
          <p:nvPr/>
        </p:nvSpPr>
        <p:spPr>
          <a:xfrm>
            <a:off x="676275" y="3514725"/>
            <a:ext cx="270986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30" name="Google Shape;330;p26"/>
          <p:cNvSpPr/>
          <p:nvPr/>
        </p:nvSpPr>
        <p:spPr>
          <a:xfrm>
            <a:off x="3386137" y="3514725"/>
            <a:ext cx="487769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31" name="Google Shape;331;p26"/>
          <p:cNvSpPr/>
          <p:nvPr/>
        </p:nvSpPr>
        <p:spPr>
          <a:xfrm>
            <a:off x="8263830" y="3514725"/>
            <a:ext cx="3251894"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32" name="Google Shape;332;p26"/>
          <p:cNvSpPr/>
          <p:nvPr/>
        </p:nvSpPr>
        <p:spPr>
          <a:xfrm>
            <a:off x="676275" y="3945731"/>
            <a:ext cx="270986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33" name="Google Shape;333;p26"/>
          <p:cNvSpPr/>
          <p:nvPr/>
        </p:nvSpPr>
        <p:spPr>
          <a:xfrm>
            <a:off x="3386137" y="3945731"/>
            <a:ext cx="487769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34" name="Google Shape;334;p26"/>
          <p:cNvSpPr/>
          <p:nvPr/>
        </p:nvSpPr>
        <p:spPr>
          <a:xfrm>
            <a:off x="8263830" y="3945731"/>
            <a:ext cx="3251894"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35" name="Google Shape;335;p26"/>
          <p:cNvSpPr txBox="1"/>
          <p:nvPr/>
        </p:nvSpPr>
        <p:spPr>
          <a:xfrm>
            <a:off x="809625" y="476250"/>
            <a:ext cx="11251406" cy="24574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a:solidFill>
                  <a:srgbClr val="1C1613"/>
                </a:solidFill>
                <a:latin typeface="Times New Roman" panose="02020603050405020304" charset="0"/>
                <a:ea typeface="Playfair Display"/>
                <a:cs typeface="Times New Roman" panose="02020603050405020304" charset="0"/>
                <a:sym typeface="Playfair Display"/>
              </a:rPr>
              <a:t>CSDL: Sản phẩm &amp; Danh mục</a:t>
            </a:r>
            <a:endParaRPr lang="en-US" sz="1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336" name="Google Shape;336;p26"/>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340" name="Shape 340"/>
        <p:cNvGrpSpPr/>
        <p:nvPr/>
      </p:nvGrpSpPr>
      <p:grpSpPr>
        <a:xfrm>
          <a:off x="0" y="0"/>
          <a:ext cx="0" cy="0"/>
          <a:chOff x="0" y="0"/>
          <a:chExt cx="0" cy="0"/>
        </a:xfrm>
      </p:grpSpPr>
      <p:pic>
        <p:nvPicPr>
          <p:cNvPr id="341" name="Google Shape;341;p2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42" name="Google Shape;342;p27" descr="image.png"/>
          <p:cNvPicPr preferRelativeResize="0"/>
          <p:nvPr/>
        </p:nvPicPr>
        <p:blipFill rotWithShape="1">
          <a:blip r:embed="rId2"/>
          <a:srcRect/>
          <a:stretch>
            <a:fillRect/>
          </a:stretch>
        </p:blipFill>
        <p:spPr>
          <a:xfrm>
            <a:off x="666750" y="2874168"/>
            <a:ext cx="10858500" cy="1709737"/>
          </a:xfrm>
          <a:prstGeom prst="rect">
            <a:avLst/>
          </a:prstGeom>
          <a:noFill/>
          <a:ln>
            <a:noFill/>
          </a:ln>
        </p:spPr>
      </p:pic>
      <p:graphicFrame>
        <p:nvGraphicFramePr>
          <p:cNvPr id="343" name="Google Shape;343;p27"/>
          <p:cNvGraphicFramePr/>
          <p:nvPr/>
        </p:nvGraphicFramePr>
        <p:xfrm>
          <a:off x="676275" y="2883693"/>
          <a:ext cx="10839450" cy="3000000"/>
        </p:xfrm>
        <a:graphic>
          <a:graphicData uri="http://schemas.openxmlformats.org/drawingml/2006/table">
            <a:tbl>
              <a:tblPr firstRow="1" bandRow="1">
                <a:noFill/>
                <a:tableStyleId>{7663FC6A-6F38-4B7B-9050-8D1B1B5FE652}</a:tableStyleId>
              </a:tblPr>
              <a:tblGrid>
                <a:gridCol w="2709850"/>
                <a:gridCol w="4877700"/>
                <a:gridCol w="3251900"/>
              </a:tblGrid>
              <a:tr h="563550">
                <a:tc>
                  <a:txBody>
                    <a:bodyPr/>
                    <a:lstStyle/>
                    <a:p>
                      <a:pPr marL="0" marR="0" lvl="0" indent="0" algn="l" rtl="0">
                        <a:spcBef>
                          <a:spcPts val="0"/>
                        </a:spcBef>
                        <a:spcAft>
                          <a:spcPts val="0"/>
                        </a:spcAft>
                        <a:buNone/>
                      </a:pPr>
                      <a:r>
                        <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rPr>
                        <a:t>Bảng Cơ Sở Dữ Liệu</a:t>
                      </a:r>
                      <a:endPar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c>
                  <a:txBody>
                    <a:bodyPr/>
                    <a:lstStyle/>
                    <a:p>
                      <a:pPr marL="0" marR="0" lvl="0" indent="0" algn="l" rtl="0">
                        <a:spcBef>
                          <a:spcPts val="0"/>
                        </a:spcBef>
                        <a:spcAft>
                          <a:spcPts val="0"/>
                        </a:spcAft>
                        <a:buNone/>
                      </a:pPr>
                      <a:r>
                        <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rPr>
                        <a:t>Các Trường Dữ Liệu</a:t>
                      </a:r>
                      <a:endPar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c>
                  <a:txBody>
                    <a:bodyPr/>
                    <a:lstStyle/>
                    <a:p>
                      <a:pPr marL="0" marR="0" lvl="0" indent="0" algn="l" rtl="0">
                        <a:spcBef>
                          <a:spcPts val="0"/>
                        </a:spcBef>
                        <a:spcAft>
                          <a:spcPts val="0"/>
                        </a:spcAft>
                        <a:buNone/>
                      </a:pPr>
                      <a:r>
                        <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rPr>
                        <a:t>Ràng Buộc Chính</a:t>
                      </a:r>
                      <a:endParaRPr lang="en-US" sz="20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r>
              <a:tr h="563550">
                <a:tc>
                  <a:txBody>
                    <a:bodyPr/>
                    <a:lstStyle/>
                    <a:p>
                      <a:pPr marL="0" marR="0" lvl="0" indent="0" algn="l" rtl="0">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ORDERS</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(Đơn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id, customer_id, shipping_address, total_amount, status</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Mã đơn hàng PK, liên kết customer_id làm khóa ngoại FK.</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563575">
                <a:tc>
                  <a:txBody>
                    <a:bodyPr/>
                    <a:lstStyle/>
                    <a:p>
                      <a:pPr marL="0" marR="0" lvl="0" indent="0" algn="l" rtl="0">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ORDER_ITEMS</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(Chi tiết đơn)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id, order_id, product_id, quantity, line_total</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Liên kết khóa ngoại FK đến cả bảng Đơn hàng và bảng Sản phẩm.</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bl>
          </a:graphicData>
        </a:graphic>
      </p:graphicFrame>
      <p:sp>
        <p:nvSpPr>
          <p:cNvPr id="344" name="Google Shape;344;p27"/>
          <p:cNvSpPr/>
          <p:nvPr/>
        </p:nvSpPr>
        <p:spPr>
          <a:xfrm>
            <a:off x="676275" y="3321843"/>
            <a:ext cx="270986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45" name="Google Shape;345;p27"/>
          <p:cNvSpPr/>
          <p:nvPr/>
        </p:nvSpPr>
        <p:spPr>
          <a:xfrm>
            <a:off x="3386137" y="3321843"/>
            <a:ext cx="487769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46" name="Google Shape;346;p27"/>
          <p:cNvSpPr/>
          <p:nvPr/>
        </p:nvSpPr>
        <p:spPr>
          <a:xfrm>
            <a:off x="8263830" y="3321843"/>
            <a:ext cx="3251894"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47" name="Google Shape;347;p27"/>
          <p:cNvSpPr/>
          <p:nvPr/>
        </p:nvSpPr>
        <p:spPr>
          <a:xfrm>
            <a:off x="676275" y="3945731"/>
            <a:ext cx="270986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48" name="Google Shape;348;p27"/>
          <p:cNvSpPr/>
          <p:nvPr/>
        </p:nvSpPr>
        <p:spPr>
          <a:xfrm>
            <a:off x="3386137" y="3945731"/>
            <a:ext cx="487769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49" name="Google Shape;349;p27"/>
          <p:cNvSpPr/>
          <p:nvPr/>
        </p:nvSpPr>
        <p:spPr>
          <a:xfrm>
            <a:off x="8263830" y="3945731"/>
            <a:ext cx="3251894"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50" name="Google Shape;350;p27"/>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CSDL: Đơn hàng &amp; Chi tiết</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351" name="Google Shape;351;p27"/>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355" name="Shape 355"/>
        <p:cNvGrpSpPr/>
        <p:nvPr/>
      </p:nvGrpSpPr>
      <p:grpSpPr>
        <a:xfrm>
          <a:off x="0" y="0"/>
          <a:ext cx="0" cy="0"/>
          <a:chOff x="0" y="0"/>
          <a:chExt cx="0" cy="0"/>
        </a:xfrm>
      </p:grpSpPr>
      <p:pic>
        <p:nvPicPr>
          <p:cNvPr id="356" name="Google Shape;356;p28" descr="image.png"/>
          <p:cNvPicPr preferRelativeResize="0"/>
          <p:nvPr/>
        </p:nvPicPr>
        <p:blipFill rotWithShape="1">
          <a:blip r:embed="rId1"/>
          <a:srcRect/>
          <a:stretch>
            <a:fillRect/>
          </a:stretch>
        </p:blipFill>
        <p:spPr>
          <a:xfrm>
            <a:off x="0" y="9525"/>
            <a:ext cx="12192000" cy="6858000"/>
          </a:xfrm>
          <a:prstGeom prst="rect">
            <a:avLst/>
          </a:prstGeom>
          <a:noFill/>
          <a:ln>
            <a:noFill/>
          </a:ln>
        </p:spPr>
      </p:pic>
      <p:pic>
        <p:nvPicPr>
          <p:cNvPr id="357" name="Google Shape;357;p28" descr="image.png"/>
          <p:cNvPicPr preferRelativeResize="0"/>
          <p:nvPr/>
        </p:nvPicPr>
        <p:blipFill rotWithShape="1">
          <a:blip r:embed="rId2"/>
          <a:srcRect/>
          <a:stretch>
            <a:fillRect/>
          </a:stretch>
        </p:blipFill>
        <p:spPr>
          <a:xfrm>
            <a:off x="666750" y="2971800"/>
            <a:ext cx="5262245" cy="2305050"/>
          </a:xfrm>
          <a:prstGeom prst="rect">
            <a:avLst/>
          </a:prstGeom>
          <a:noFill/>
          <a:ln>
            <a:noFill/>
          </a:ln>
        </p:spPr>
      </p:pic>
      <p:pic>
        <p:nvPicPr>
          <p:cNvPr id="358" name="Google Shape;358;p28" descr="image.png"/>
          <p:cNvPicPr preferRelativeResize="0"/>
          <p:nvPr/>
        </p:nvPicPr>
        <p:blipFill rotWithShape="1">
          <a:blip r:embed="rId3"/>
          <a:srcRect/>
          <a:stretch>
            <a:fillRect/>
          </a:stretch>
        </p:blipFill>
        <p:spPr>
          <a:xfrm>
            <a:off x="6262370" y="2971800"/>
            <a:ext cx="5262245" cy="2305050"/>
          </a:xfrm>
          <a:prstGeom prst="rect">
            <a:avLst/>
          </a:prstGeom>
          <a:noFill/>
          <a:ln>
            <a:noFill/>
          </a:ln>
        </p:spPr>
      </p:pic>
      <p:sp>
        <p:nvSpPr>
          <p:cNvPr id="359" name="Google Shape;359;p28"/>
          <p:cNvSpPr txBox="1"/>
          <p:nvPr/>
        </p:nvSpPr>
        <p:spPr>
          <a:xfrm>
            <a:off x="962025"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Xác thực &amp; Tra cứu</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360" name="Google Shape;360;p28"/>
          <p:cNvSpPr/>
          <p:nvPr/>
        </p:nvSpPr>
        <p:spPr>
          <a:xfrm>
            <a:off x="962025"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61" name="Google Shape;361;p28"/>
          <p:cNvSpPr txBox="1"/>
          <p:nvPr/>
        </p:nvSpPr>
        <p:spPr>
          <a:xfrm>
            <a:off x="962025" y="3638550"/>
            <a:ext cx="4672012" cy="14770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Khách hàng thực hiện đăng ký tài khoản nhanh chóng. Hệ thống bảo vệ dữ liệu bằng việc mã hóa Hash mật khẩu. Cơ chế tìm kiếm sản phẩm thông minh được tích hợp trực quan.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362" name="Google Shape;362;p28"/>
          <p:cNvSpPr txBox="1"/>
          <p:nvPr/>
        </p:nvSpPr>
        <p:spPr>
          <a:xfrm>
            <a:off x="6557962"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Giỏ hàng &amp; Thanh toán</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363" name="Google Shape;363;p28"/>
          <p:cNvSpPr/>
          <p:nvPr/>
        </p:nvSpPr>
        <p:spPr>
          <a:xfrm>
            <a:off x="6557962"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64" name="Google Shape;364;p28"/>
          <p:cNvSpPr txBox="1"/>
          <p:nvPr/>
        </p:nvSpPr>
        <p:spPr>
          <a:xfrm>
            <a:off x="6557962" y="3638550"/>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Quản lý giỏ hàng linh hoạt theo Session và Cookie. Lưu vết đơn hàng chuẩn xác, điền form địa chỉ nhận hàng và hỗ trợ phương thức COD/Chuyển khoản ngân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365" name="Google Shape;365;p28"/>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2.3.1. Chức năng Khách hàng</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366" name="Google Shape;366;p28"/>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370" name="Shape 370"/>
        <p:cNvGrpSpPr/>
        <p:nvPr/>
      </p:nvGrpSpPr>
      <p:grpSpPr>
        <a:xfrm>
          <a:off x="0" y="0"/>
          <a:ext cx="0" cy="0"/>
          <a:chOff x="0" y="0"/>
          <a:chExt cx="0" cy="0"/>
        </a:xfrm>
      </p:grpSpPr>
      <p:pic>
        <p:nvPicPr>
          <p:cNvPr id="371" name="Google Shape;371;p29" descr="image.png"/>
          <p:cNvPicPr preferRelativeResize="0"/>
          <p:nvPr/>
        </p:nvPicPr>
        <p:blipFill rotWithShape="1">
          <a:blip r:embed="rId1"/>
          <a:srcRect/>
          <a:stretch>
            <a:fillRect/>
          </a:stretch>
        </p:blipFill>
        <p:spPr>
          <a:xfrm>
            <a:off x="-57785" y="0"/>
            <a:ext cx="12192000" cy="6858000"/>
          </a:xfrm>
          <a:prstGeom prst="rect">
            <a:avLst/>
          </a:prstGeom>
          <a:noFill/>
          <a:ln>
            <a:noFill/>
          </a:ln>
        </p:spPr>
      </p:pic>
      <p:pic>
        <p:nvPicPr>
          <p:cNvPr id="372" name="Google Shape;372;p29" descr="image.png"/>
          <p:cNvPicPr preferRelativeResize="0"/>
          <p:nvPr/>
        </p:nvPicPr>
        <p:blipFill rotWithShape="1">
          <a:blip r:embed="rId2"/>
          <a:srcRect/>
          <a:stretch>
            <a:fillRect/>
          </a:stretch>
        </p:blipFill>
        <p:spPr>
          <a:xfrm>
            <a:off x="6262687" y="2062162"/>
            <a:ext cx="5262562" cy="3333750"/>
          </a:xfrm>
          <a:prstGeom prst="rect">
            <a:avLst/>
          </a:prstGeom>
          <a:noFill/>
          <a:ln>
            <a:noFill/>
          </a:ln>
        </p:spPr>
      </p:pic>
      <p:sp>
        <p:nvSpPr>
          <p:cNvPr id="373" name="Google Shape;373;p29"/>
          <p:cNvSpPr txBox="1"/>
          <p:nvPr/>
        </p:nvSpPr>
        <p:spPr>
          <a:xfrm>
            <a:off x="666750" y="2062162"/>
            <a:ext cx="552569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Trải nghiệm giỏ hàng và thanh toán</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374" name="Google Shape;374;p29"/>
          <p:cNvSpPr txBox="1"/>
          <p:nvPr/>
        </p:nvSpPr>
        <p:spPr>
          <a:xfrm>
            <a:off x="1047750" y="2376487"/>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Giỏ hàng:</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Cho phép cập nhật tăng giảm số lượng sản phẩm nhanh chóng, tự động tính toán tổng số tiền.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375" name="Google Shape;375;p29"/>
          <p:cNvSpPr txBox="1"/>
          <p:nvPr/>
        </p:nvSpPr>
        <p:spPr>
          <a:xfrm>
            <a:off x="1047750" y="2921198"/>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Thanh toán:</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Thiết lập biểu mẫu nhập liệu gọn gàng, hỗ trợ người mua kiểm tra lại sản phẩm trước khi chốt đơn.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pic>
        <p:nvPicPr>
          <p:cNvPr id="376" name="Google Shape;376;p29" descr="image.png"/>
          <p:cNvPicPr preferRelativeResize="0"/>
          <p:nvPr/>
        </p:nvPicPr>
        <p:blipFill rotWithShape="1">
          <a:blip r:embed="rId3"/>
          <a:srcRect/>
          <a:stretch>
            <a:fillRect/>
          </a:stretch>
        </p:blipFill>
        <p:spPr>
          <a:xfrm>
            <a:off x="6272212" y="2071687"/>
            <a:ext cx="5243512" cy="3314700"/>
          </a:xfrm>
          <a:prstGeom prst="rect">
            <a:avLst/>
          </a:prstGeom>
          <a:noFill/>
          <a:ln>
            <a:noFill/>
          </a:ln>
        </p:spPr>
      </p:pic>
      <p:sp>
        <p:nvSpPr>
          <p:cNvPr id="377" name="Google Shape;377;p29"/>
          <p:cNvSpPr txBox="1"/>
          <p:nvPr/>
        </p:nvSpPr>
        <p:spPr>
          <a:xfrm>
            <a:off x="666750" y="2376487"/>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378" name="Google Shape;378;p29"/>
          <p:cNvSpPr txBox="1"/>
          <p:nvPr/>
        </p:nvSpPr>
        <p:spPr>
          <a:xfrm>
            <a:off x="666750" y="2921198"/>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pic>
        <p:nvPicPr>
          <p:cNvPr id="379" name="Google Shape;379;p29" descr="image.png"/>
          <p:cNvPicPr preferRelativeResize="0"/>
          <p:nvPr/>
        </p:nvPicPr>
        <p:blipFill rotWithShape="1">
          <a:blip r:embed="rId4"/>
          <a:srcRect/>
          <a:stretch>
            <a:fillRect/>
          </a:stretch>
        </p:blipFill>
        <p:spPr>
          <a:xfrm>
            <a:off x="714375" y="2390775"/>
            <a:ext cx="219075" cy="200025"/>
          </a:xfrm>
          <a:prstGeom prst="rect">
            <a:avLst/>
          </a:prstGeom>
          <a:noFill/>
          <a:ln>
            <a:noFill/>
          </a:ln>
        </p:spPr>
      </p:pic>
      <p:pic>
        <p:nvPicPr>
          <p:cNvPr id="380" name="Google Shape;380;p29" descr="image.png"/>
          <p:cNvPicPr preferRelativeResize="0"/>
          <p:nvPr/>
        </p:nvPicPr>
        <p:blipFill rotWithShape="1">
          <a:blip r:embed="rId5"/>
          <a:srcRect/>
          <a:stretch>
            <a:fillRect/>
          </a:stretch>
        </p:blipFill>
        <p:spPr>
          <a:xfrm>
            <a:off x="714375" y="2935485"/>
            <a:ext cx="190500" cy="200025"/>
          </a:xfrm>
          <a:prstGeom prst="rect">
            <a:avLst/>
          </a:prstGeom>
          <a:noFill/>
          <a:ln>
            <a:noFill/>
          </a:ln>
        </p:spPr>
      </p:pic>
      <p:sp>
        <p:nvSpPr>
          <p:cNvPr id="381" name="Google Shape;381;p29"/>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Giao diện giỏ hàng trực quan</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382" name="Google Shape;382;p29"/>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pic>
        <p:nvPicPr>
          <p:cNvPr id="2" name="Picture 1"/>
          <p:cNvPicPr>
            <a:picLocks noChangeAspect="1"/>
          </p:cNvPicPr>
          <p:nvPr/>
        </p:nvPicPr>
        <p:blipFill>
          <a:blip r:embed="rId6"/>
          <a:stretch>
            <a:fillRect/>
          </a:stretch>
        </p:blipFill>
        <p:spPr>
          <a:xfrm>
            <a:off x="5929630" y="1203325"/>
            <a:ext cx="6130925" cy="4795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386" name="Shape 386"/>
        <p:cNvGrpSpPr/>
        <p:nvPr/>
      </p:nvGrpSpPr>
      <p:grpSpPr>
        <a:xfrm>
          <a:off x="0" y="0"/>
          <a:ext cx="0" cy="0"/>
          <a:chOff x="0" y="0"/>
          <a:chExt cx="0" cy="0"/>
        </a:xfrm>
      </p:grpSpPr>
      <p:pic>
        <p:nvPicPr>
          <p:cNvPr id="387" name="Google Shape;387;p30" descr="image.png"/>
          <p:cNvPicPr preferRelativeResize="0"/>
          <p:nvPr/>
        </p:nvPicPr>
        <p:blipFill rotWithShape="1">
          <a:blip r:embed="rId1"/>
          <a:srcRect/>
          <a:stretch>
            <a:fillRect/>
          </a:stretch>
        </p:blipFill>
        <p:spPr>
          <a:xfrm>
            <a:off x="0" y="208915"/>
            <a:ext cx="12192000" cy="6858000"/>
          </a:xfrm>
          <a:prstGeom prst="rect">
            <a:avLst/>
          </a:prstGeom>
          <a:noFill/>
          <a:ln>
            <a:noFill/>
          </a:ln>
        </p:spPr>
      </p:pic>
      <p:pic>
        <p:nvPicPr>
          <p:cNvPr id="388" name="Google Shape;388;p30" descr="image.png"/>
          <p:cNvPicPr preferRelativeResize="0"/>
          <p:nvPr/>
        </p:nvPicPr>
        <p:blipFill rotWithShape="1">
          <a:blip r:embed="rId2"/>
          <a:srcRect/>
          <a:stretch>
            <a:fillRect/>
          </a:stretch>
        </p:blipFill>
        <p:spPr>
          <a:xfrm>
            <a:off x="6262687" y="2062162"/>
            <a:ext cx="5262562" cy="3333750"/>
          </a:xfrm>
          <a:prstGeom prst="rect">
            <a:avLst/>
          </a:prstGeom>
          <a:noFill/>
          <a:ln>
            <a:noFill/>
          </a:ln>
        </p:spPr>
      </p:pic>
      <p:sp>
        <p:nvSpPr>
          <p:cNvPr id="389" name="Google Shape;389;p30"/>
          <p:cNvSpPr txBox="1"/>
          <p:nvPr/>
        </p:nvSpPr>
        <p:spPr>
          <a:xfrm>
            <a:off x="666750" y="1901190"/>
            <a:ext cx="5525770" cy="47561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Duy trì &amp; Quản trị cơ sở dữ liệu</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390" name="Google Shape;390;p30"/>
          <p:cNvSpPr txBox="1"/>
          <p:nvPr/>
        </p:nvSpPr>
        <p:spPr>
          <a:xfrm>
            <a:off x="1047750" y="2376487"/>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Quản lý sản phẩm:</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Admin thực hiện tạo mới sản phẩm, cập nhật giá thành, chỉnh sửa ảnh mô tả và quản lý kho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391" name="Google Shape;391;p30"/>
          <p:cNvSpPr txBox="1"/>
          <p:nvPr/>
        </p:nvSpPr>
        <p:spPr>
          <a:xfrm>
            <a:off x="1047750" y="2921198"/>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Quản lý danh mục:</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Thao tác chỉnh sửa cơ cấu danh mục phân loại nước hoa nhanh chóng.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392" name="Google Shape;392;p30"/>
          <p:cNvSpPr txBox="1"/>
          <p:nvPr/>
        </p:nvSpPr>
        <p:spPr>
          <a:xfrm>
            <a:off x="1047750" y="3465909"/>
            <a:ext cx="4881562"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Quản lý tài khoản:</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Theo dõi thông tin tài khoản đăng ký.</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pic>
        <p:nvPicPr>
          <p:cNvPr id="393" name="Google Shape;393;p30" descr="image.png"/>
          <p:cNvPicPr preferRelativeResize="0"/>
          <p:nvPr/>
        </p:nvPicPr>
        <p:blipFill rotWithShape="1">
          <a:blip r:embed="rId3"/>
          <a:srcRect/>
          <a:stretch>
            <a:fillRect/>
          </a:stretch>
        </p:blipFill>
        <p:spPr>
          <a:xfrm>
            <a:off x="6272212" y="2071687"/>
            <a:ext cx="5243512" cy="3314700"/>
          </a:xfrm>
          <a:prstGeom prst="rect">
            <a:avLst/>
          </a:prstGeom>
          <a:noFill/>
          <a:ln>
            <a:noFill/>
          </a:ln>
        </p:spPr>
      </p:pic>
      <p:sp>
        <p:nvSpPr>
          <p:cNvPr id="394" name="Google Shape;394;p30"/>
          <p:cNvSpPr txBox="1"/>
          <p:nvPr/>
        </p:nvSpPr>
        <p:spPr>
          <a:xfrm>
            <a:off x="666750" y="2376487"/>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395" name="Google Shape;395;p30"/>
          <p:cNvSpPr txBox="1"/>
          <p:nvPr/>
        </p:nvSpPr>
        <p:spPr>
          <a:xfrm>
            <a:off x="666750" y="2921198"/>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396" name="Google Shape;396;p30"/>
          <p:cNvSpPr txBox="1"/>
          <p:nvPr/>
        </p:nvSpPr>
        <p:spPr>
          <a:xfrm>
            <a:off x="666750" y="3465909"/>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pic>
        <p:nvPicPr>
          <p:cNvPr id="397" name="Google Shape;397;p30" descr="image.png"/>
          <p:cNvPicPr preferRelativeResize="0"/>
          <p:nvPr/>
        </p:nvPicPr>
        <p:blipFill rotWithShape="1">
          <a:blip r:embed="rId4"/>
          <a:srcRect/>
          <a:stretch>
            <a:fillRect/>
          </a:stretch>
        </p:blipFill>
        <p:spPr>
          <a:xfrm>
            <a:off x="714375" y="2390775"/>
            <a:ext cx="171450" cy="200025"/>
          </a:xfrm>
          <a:prstGeom prst="rect">
            <a:avLst/>
          </a:prstGeom>
          <a:noFill/>
          <a:ln>
            <a:noFill/>
          </a:ln>
        </p:spPr>
      </p:pic>
      <p:pic>
        <p:nvPicPr>
          <p:cNvPr id="398" name="Google Shape;398;p30" descr="image.png"/>
          <p:cNvPicPr preferRelativeResize="0"/>
          <p:nvPr/>
        </p:nvPicPr>
        <p:blipFill rotWithShape="1">
          <a:blip r:embed="rId5"/>
          <a:srcRect/>
          <a:stretch>
            <a:fillRect/>
          </a:stretch>
        </p:blipFill>
        <p:spPr>
          <a:xfrm>
            <a:off x="714375" y="2935485"/>
            <a:ext cx="190500" cy="200025"/>
          </a:xfrm>
          <a:prstGeom prst="rect">
            <a:avLst/>
          </a:prstGeom>
          <a:noFill/>
          <a:ln>
            <a:noFill/>
          </a:ln>
        </p:spPr>
      </p:pic>
      <p:pic>
        <p:nvPicPr>
          <p:cNvPr id="399" name="Google Shape;399;p30" descr="image.png"/>
          <p:cNvPicPr preferRelativeResize="0"/>
          <p:nvPr/>
        </p:nvPicPr>
        <p:blipFill rotWithShape="1">
          <a:blip r:embed="rId6"/>
          <a:srcRect/>
          <a:stretch>
            <a:fillRect/>
          </a:stretch>
        </p:blipFill>
        <p:spPr>
          <a:xfrm>
            <a:off x="714375" y="3480196"/>
            <a:ext cx="238125" cy="200025"/>
          </a:xfrm>
          <a:prstGeom prst="rect">
            <a:avLst/>
          </a:prstGeom>
          <a:noFill/>
          <a:ln>
            <a:noFill/>
          </a:ln>
        </p:spPr>
      </p:pic>
      <p:sp>
        <p:nvSpPr>
          <p:cNvPr id="400" name="Google Shape;400;p30"/>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2.3.2. Chức năng quản trị CRUD</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401" name="Google Shape;401;p30"/>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pic>
        <p:nvPicPr>
          <p:cNvPr id="2" name="Picture 1"/>
          <p:cNvPicPr>
            <a:picLocks noChangeAspect="1"/>
          </p:cNvPicPr>
          <p:nvPr/>
        </p:nvPicPr>
        <p:blipFill>
          <a:blip r:embed="rId7"/>
          <a:stretch>
            <a:fillRect/>
          </a:stretch>
        </p:blipFill>
        <p:spPr>
          <a:xfrm>
            <a:off x="6090285" y="1222375"/>
            <a:ext cx="5935980" cy="52374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405" name="Shape 405"/>
        <p:cNvGrpSpPr/>
        <p:nvPr/>
      </p:nvGrpSpPr>
      <p:grpSpPr>
        <a:xfrm>
          <a:off x="0" y="0"/>
          <a:ext cx="0" cy="0"/>
          <a:chOff x="0" y="0"/>
          <a:chExt cx="0" cy="0"/>
        </a:xfrm>
      </p:grpSpPr>
      <p:pic>
        <p:nvPicPr>
          <p:cNvPr id="406" name="Google Shape;406;p3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407" name="Google Shape;407;p31" descr="image.png"/>
          <p:cNvPicPr preferRelativeResize="0"/>
          <p:nvPr/>
        </p:nvPicPr>
        <p:blipFill rotWithShape="1">
          <a:blip r:embed="rId2"/>
          <a:srcRect/>
          <a:stretch>
            <a:fillRect/>
          </a:stretch>
        </p:blipFill>
        <p:spPr>
          <a:xfrm>
            <a:off x="666750" y="2971800"/>
            <a:ext cx="5262245" cy="2411095"/>
          </a:xfrm>
          <a:prstGeom prst="rect">
            <a:avLst/>
          </a:prstGeom>
          <a:noFill/>
          <a:ln>
            <a:noFill/>
          </a:ln>
        </p:spPr>
      </p:pic>
      <p:pic>
        <p:nvPicPr>
          <p:cNvPr id="408" name="Google Shape;408;p31" descr="image.png"/>
          <p:cNvPicPr preferRelativeResize="0"/>
          <p:nvPr/>
        </p:nvPicPr>
        <p:blipFill rotWithShape="1">
          <a:blip r:embed="rId3"/>
          <a:srcRect/>
          <a:stretch>
            <a:fillRect/>
          </a:stretch>
        </p:blipFill>
        <p:spPr>
          <a:xfrm>
            <a:off x="6262370" y="2971800"/>
            <a:ext cx="5262245" cy="2411095"/>
          </a:xfrm>
          <a:prstGeom prst="rect">
            <a:avLst/>
          </a:prstGeom>
          <a:noFill/>
          <a:ln>
            <a:noFill/>
          </a:ln>
        </p:spPr>
      </p:pic>
      <p:sp>
        <p:nvSpPr>
          <p:cNvPr id="409" name="Google Shape;409;p31"/>
          <p:cNvSpPr txBox="1"/>
          <p:nvPr/>
        </p:nvSpPr>
        <p:spPr>
          <a:xfrm>
            <a:off x="962025"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Cập nhật lộ trình đơn hàng</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410" name="Google Shape;410;p31"/>
          <p:cNvSpPr/>
          <p:nvPr/>
        </p:nvSpPr>
        <p:spPr>
          <a:xfrm>
            <a:off x="962025"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11" name="Google Shape;411;p31"/>
          <p:cNvSpPr txBox="1"/>
          <p:nvPr/>
        </p:nvSpPr>
        <p:spPr>
          <a:xfrm>
            <a:off x="962025" y="3638550"/>
            <a:ext cx="4672012" cy="14770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Admin trực tiếp phê duyệt và tiếp nhận thông tin đơn hàng mới. Theo dõi chặt chẽ và cập nhật vòng đời trạng thái đơn hàng: Đơn mới → Đang xử lý → Đang vận chuyển → Đã hoàn thành.</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412" name="Google Shape;412;p31"/>
          <p:cNvSpPr txBox="1"/>
          <p:nvPr/>
        </p:nvSpPr>
        <p:spPr>
          <a:xfrm>
            <a:off x="6557962"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Kết xuất báo cáo tự động</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413" name="Google Shape;413;p31"/>
          <p:cNvSpPr/>
          <p:nvPr/>
        </p:nvSpPr>
        <p:spPr>
          <a:xfrm>
            <a:off x="6557962"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14" name="Google Shape;414;p31"/>
          <p:cNvSpPr txBox="1"/>
          <p:nvPr/>
        </p:nvSpPr>
        <p:spPr>
          <a:xfrm>
            <a:off x="6557962" y="3638550"/>
            <a:ext cx="4672012" cy="14770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Hệ thống tự động hóa quá trình truy xuất dữ liệu doanh thu dựa trên hàm tổng gộp SUM() trong MySQL. Hỗ trợ nhà quản trị xuất báo cáo tài chính theo ngày, tháng, năm cực kỳ trực quan.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415" name="Google Shape;415;p31"/>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Quản lý đơn hàng &amp; Thống kê</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416" name="Google Shape;416;p31"/>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420" name="Shape 420"/>
        <p:cNvGrpSpPr/>
        <p:nvPr/>
      </p:nvGrpSpPr>
      <p:grpSpPr>
        <a:xfrm>
          <a:off x="0" y="0"/>
          <a:ext cx="0" cy="0"/>
          <a:chOff x="0" y="0"/>
          <a:chExt cx="0" cy="0"/>
        </a:xfrm>
      </p:grpSpPr>
      <p:pic>
        <p:nvPicPr>
          <p:cNvPr id="421" name="Google Shape;421;p32"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422" name="Google Shape;422;p32" descr="image.png"/>
          <p:cNvPicPr preferRelativeResize="0"/>
          <p:nvPr/>
        </p:nvPicPr>
        <p:blipFill rotWithShape="1">
          <a:blip r:embed="rId2"/>
          <a:srcRect/>
          <a:stretch>
            <a:fillRect/>
          </a:stretch>
        </p:blipFill>
        <p:spPr>
          <a:xfrm>
            <a:off x="6262687" y="2062162"/>
            <a:ext cx="5262562" cy="3333750"/>
          </a:xfrm>
          <a:prstGeom prst="rect">
            <a:avLst/>
          </a:prstGeom>
          <a:noFill/>
          <a:ln>
            <a:noFill/>
          </a:ln>
        </p:spPr>
      </p:pic>
      <p:sp>
        <p:nvSpPr>
          <p:cNvPr id="423" name="Google Shape;423;p32"/>
          <p:cNvSpPr txBox="1"/>
          <p:nvPr/>
        </p:nvSpPr>
        <p:spPr>
          <a:xfrm>
            <a:off x="666750" y="1889760"/>
            <a:ext cx="5525770" cy="41719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Thành phần giao diện Trang chủ</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424" name="Google Shape;424;p32"/>
          <p:cNvSpPr txBox="1"/>
          <p:nvPr/>
        </p:nvSpPr>
        <p:spPr>
          <a:xfrm>
            <a:off x="1047750" y="2376487"/>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Header &amp; Menu:</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Logo nhận diện thương hiệu cùng thanh điều hướng danh mục sản phẩm thông minh.</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425" name="Google Shape;425;p32"/>
          <p:cNvSpPr txBox="1"/>
          <p:nvPr/>
        </p:nvSpPr>
        <p:spPr>
          <a:xfrm>
            <a:off x="1047750" y="2921198"/>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Carousel Banner:</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Hiển thị trình chiếu các sự kiện khuyến mãi, dòng sản phẩm nổi bật tinh tế.</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426" name="Google Shape;426;p32"/>
          <p:cNvSpPr txBox="1"/>
          <p:nvPr/>
        </p:nvSpPr>
        <p:spPr>
          <a:xfrm>
            <a:off x="1047750" y="3465909"/>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Featured Product Grid:</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Khung hiển thị các dòng nước hoa bán chạy kèm nút tương tác mua hàng nhanh chóng.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pic>
        <p:nvPicPr>
          <p:cNvPr id="427" name="Google Shape;427;p32" descr="image.png"/>
          <p:cNvPicPr preferRelativeResize="0"/>
          <p:nvPr/>
        </p:nvPicPr>
        <p:blipFill rotWithShape="1">
          <a:blip r:embed="rId3"/>
          <a:srcRect/>
          <a:stretch>
            <a:fillRect/>
          </a:stretch>
        </p:blipFill>
        <p:spPr>
          <a:xfrm>
            <a:off x="6272212" y="2071687"/>
            <a:ext cx="5243512" cy="3314700"/>
          </a:xfrm>
          <a:prstGeom prst="rect">
            <a:avLst/>
          </a:prstGeom>
          <a:noFill/>
          <a:ln>
            <a:noFill/>
          </a:ln>
        </p:spPr>
      </p:pic>
      <p:sp>
        <p:nvSpPr>
          <p:cNvPr id="428" name="Google Shape;428;p32"/>
          <p:cNvSpPr txBox="1"/>
          <p:nvPr/>
        </p:nvSpPr>
        <p:spPr>
          <a:xfrm>
            <a:off x="666750" y="2376487"/>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429" name="Google Shape;429;p32"/>
          <p:cNvSpPr txBox="1"/>
          <p:nvPr/>
        </p:nvSpPr>
        <p:spPr>
          <a:xfrm>
            <a:off x="666750" y="2921198"/>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430" name="Google Shape;430;p32"/>
          <p:cNvSpPr txBox="1"/>
          <p:nvPr/>
        </p:nvSpPr>
        <p:spPr>
          <a:xfrm>
            <a:off x="666750" y="3465909"/>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pic>
        <p:nvPicPr>
          <p:cNvPr id="431" name="Google Shape;431;p32" descr="image.png"/>
          <p:cNvPicPr preferRelativeResize="0"/>
          <p:nvPr/>
        </p:nvPicPr>
        <p:blipFill rotWithShape="1">
          <a:blip r:embed="rId4"/>
          <a:srcRect/>
          <a:stretch>
            <a:fillRect/>
          </a:stretch>
        </p:blipFill>
        <p:spPr>
          <a:xfrm>
            <a:off x="714375" y="2390775"/>
            <a:ext cx="190500" cy="200025"/>
          </a:xfrm>
          <a:prstGeom prst="rect">
            <a:avLst/>
          </a:prstGeom>
          <a:noFill/>
          <a:ln>
            <a:noFill/>
          </a:ln>
        </p:spPr>
      </p:pic>
      <p:pic>
        <p:nvPicPr>
          <p:cNvPr id="432" name="Google Shape;432;p32" descr="image.png"/>
          <p:cNvPicPr preferRelativeResize="0"/>
          <p:nvPr/>
        </p:nvPicPr>
        <p:blipFill rotWithShape="1">
          <a:blip r:embed="rId5"/>
          <a:srcRect/>
          <a:stretch>
            <a:fillRect/>
          </a:stretch>
        </p:blipFill>
        <p:spPr>
          <a:xfrm>
            <a:off x="714375" y="2935485"/>
            <a:ext cx="219075" cy="200025"/>
          </a:xfrm>
          <a:prstGeom prst="rect">
            <a:avLst/>
          </a:prstGeom>
          <a:noFill/>
          <a:ln>
            <a:noFill/>
          </a:ln>
        </p:spPr>
      </p:pic>
      <p:pic>
        <p:nvPicPr>
          <p:cNvPr id="433" name="Google Shape;433;p32" descr="image.png"/>
          <p:cNvPicPr preferRelativeResize="0"/>
          <p:nvPr/>
        </p:nvPicPr>
        <p:blipFill rotWithShape="1">
          <a:blip r:embed="rId6"/>
          <a:srcRect/>
          <a:stretch>
            <a:fillRect/>
          </a:stretch>
        </p:blipFill>
        <p:spPr>
          <a:xfrm>
            <a:off x="714375" y="3480196"/>
            <a:ext cx="190500" cy="200025"/>
          </a:xfrm>
          <a:prstGeom prst="rect">
            <a:avLst/>
          </a:prstGeom>
          <a:noFill/>
          <a:ln>
            <a:noFill/>
          </a:ln>
        </p:spPr>
      </p:pic>
      <p:sp>
        <p:nvSpPr>
          <p:cNvPr id="434" name="Google Shape;434;p32"/>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2.4. Bố cục thiết kế Trang chủ</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435" name="Google Shape;435;p32"/>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pic>
        <p:nvPicPr>
          <p:cNvPr id="2" name="Picture 1" descr="4f"/>
          <p:cNvPicPr>
            <a:picLocks noChangeAspect="1"/>
          </p:cNvPicPr>
          <p:nvPr/>
        </p:nvPicPr>
        <p:blipFill>
          <a:blip r:embed="rId7"/>
          <a:stretch>
            <a:fillRect/>
          </a:stretch>
        </p:blipFill>
        <p:spPr>
          <a:xfrm>
            <a:off x="6071870" y="1203960"/>
            <a:ext cx="5913120" cy="51663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439" name="Shape 439"/>
        <p:cNvGrpSpPr/>
        <p:nvPr/>
      </p:nvGrpSpPr>
      <p:grpSpPr>
        <a:xfrm>
          <a:off x="0" y="0"/>
          <a:ext cx="0" cy="0"/>
          <a:chOff x="0" y="0"/>
          <a:chExt cx="0" cy="0"/>
        </a:xfrm>
      </p:grpSpPr>
      <p:pic>
        <p:nvPicPr>
          <p:cNvPr id="440" name="Google Shape;440;p3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441" name="Google Shape;441;p33" descr="image.png"/>
          <p:cNvPicPr preferRelativeResize="0"/>
          <p:nvPr/>
        </p:nvPicPr>
        <p:blipFill rotWithShape="1">
          <a:blip r:embed="rId2"/>
          <a:srcRect/>
          <a:stretch>
            <a:fillRect/>
          </a:stretch>
        </p:blipFill>
        <p:spPr>
          <a:xfrm>
            <a:off x="666750" y="3714750"/>
            <a:ext cx="10858500" cy="28575"/>
          </a:xfrm>
          <a:prstGeom prst="rect">
            <a:avLst/>
          </a:prstGeom>
          <a:noFill/>
          <a:ln>
            <a:noFill/>
          </a:ln>
        </p:spPr>
      </p:pic>
      <p:sp>
        <p:nvSpPr>
          <p:cNvPr id="442" name="Google Shape;442;p33"/>
          <p:cNvSpPr/>
          <p:nvPr/>
        </p:nvSpPr>
        <p:spPr>
          <a:xfrm>
            <a:off x="1277242"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43" name="Google Shape;443;p33"/>
          <p:cNvSpPr txBox="1"/>
          <p:nvPr/>
        </p:nvSpPr>
        <p:spPr>
          <a:xfrm>
            <a:off x="631462"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Lựa chọn</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444" name="Google Shape;444;p33"/>
          <p:cNvSpPr txBox="1"/>
          <p:nvPr/>
        </p:nvSpPr>
        <p:spPr>
          <a:xfrm>
            <a:off x="666750" y="3834407"/>
            <a:ext cx="1411485" cy="95948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Khách hàng lựa sản phẩm và thêm vào giỏ.</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445" name="Google Shape;445;p33"/>
          <p:cNvSpPr/>
          <p:nvPr/>
        </p:nvSpPr>
        <p:spPr>
          <a:xfrm>
            <a:off x="3166616"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46" name="Google Shape;446;p33"/>
          <p:cNvSpPr txBox="1"/>
          <p:nvPr/>
        </p:nvSpPr>
        <p:spPr>
          <a:xfrm>
            <a:off x="2520835"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Xác nhận</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447" name="Google Shape;447;p33"/>
          <p:cNvSpPr txBox="1"/>
          <p:nvPr/>
        </p:nvSpPr>
        <p:spPr>
          <a:xfrm>
            <a:off x="2556123" y="3834407"/>
            <a:ext cx="1411485" cy="95948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Nhập thông tin giao nhận và thanh toán.</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448" name="Google Shape;448;p33"/>
          <p:cNvSpPr/>
          <p:nvPr/>
        </p:nvSpPr>
        <p:spPr>
          <a:xfrm>
            <a:off x="5055989"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49" name="Google Shape;449;p33"/>
          <p:cNvSpPr txBox="1"/>
          <p:nvPr/>
        </p:nvSpPr>
        <p:spPr>
          <a:xfrm>
            <a:off x="4410208"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Lưu trữ</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450" name="Google Shape;450;p33"/>
          <p:cNvSpPr txBox="1"/>
          <p:nvPr/>
        </p:nvSpPr>
        <p:spPr>
          <a:xfrm>
            <a:off x="4445496" y="3834407"/>
            <a:ext cx="1411485" cy="95948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Hệ thống tự động tạo đơn vào CSDL.</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451" name="Google Shape;451;p33"/>
          <p:cNvSpPr/>
          <p:nvPr/>
        </p:nvSpPr>
        <p:spPr>
          <a:xfrm>
            <a:off x="6945362"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52" name="Google Shape;452;p33"/>
          <p:cNvSpPr txBox="1"/>
          <p:nvPr/>
        </p:nvSpPr>
        <p:spPr>
          <a:xfrm>
            <a:off x="6299581"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Phê duyệt</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453" name="Google Shape;453;p33"/>
          <p:cNvSpPr txBox="1"/>
          <p:nvPr/>
        </p:nvSpPr>
        <p:spPr>
          <a:xfrm>
            <a:off x="6334869" y="3834407"/>
            <a:ext cx="1411485" cy="95948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Admin kiểm tra, phê duyệt đơn hàng.</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454" name="Google Shape;454;p33"/>
          <p:cNvSpPr/>
          <p:nvPr/>
        </p:nvSpPr>
        <p:spPr>
          <a:xfrm>
            <a:off x="8834735"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55" name="Google Shape;455;p33"/>
          <p:cNvSpPr txBox="1"/>
          <p:nvPr/>
        </p:nvSpPr>
        <p:spPr>
          <a:xfrm>
            <a:off x="8188955"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Giao vận</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456" name="Google Shape;456;p33"/>
          <p:cNvSpPr txBox="1"/>
          <p:nvPr/>
        </p:nvSpPr>
        <p:spPr>
          <a:xfrm>
            <a:off x="8224242" y="3834407"/>
            <a:ext cx="1411485" cy="95948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Bàn giao đơn vị vận chuyển giao hàng.</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457" name="Google Shape;457;p33"/>
          <p:cNvSpPr/>
          <p:nvPr/>
        </p:nvSpPr>
        <p:spPr>
          <a:xfrm>
            <a:off x="10724108" y="3339107"/>
            <a:ext cx="190500" cy="190500"/>
          </a:xfrm>
          <a:prstGeom prst="roundRect">
            <a:avLst>
              <a:gd name="adj" fmla="val 50000"/>
            </a:avLst>
          </a:prstGeom>
          <a:solidFill>
            <a:srgbClr val="FFFFFF"/>
          </a:solidFill>
          <a:ln w="38100" cap="flat" cmpd="sng">
            <a:solidFill>
              <a:srgbClr val="C5A88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58" name="Google Shape;458;p33"/>
          <p:cNvSpPr txBox="1"/>
          <p:nvPr/>
        </p:nvSpPr>
        <p:spPr>
          <a:xfrm>
            <a:off x="10078328" y="3624857"/>
            <a:ext cx="148206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rPr>
              <a:t>Hoàn thành</a:t>
            </a:r>
            <a:endParaRPr lang="en-US" sz="16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459" name="Google Shape;459;p33"/>
          <p:cNvSpPr txBox="1"/>
          <p:nvPr/>
        </p:nvSpPr>
        <p:spPr>
          <a:xfrm>
            <a:off x="10113615" y="3834407"/>
            <a:ext cx="1411485" cy="639445"/>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rPr>
              <a:t>Cập nhật doanh thu thành công.</a:t>
            </a:r>
            <a:endParaRPr lang="en-US" sz="1600" b="0" i="0" u="none" strike="noStrike" cap="none">
              <a:solidFill>
                <a:srgbClr val="6E645E"/>
              </a:solidFill>
              <a:latin typeface="Times New Roman" panose="02020603050405020304" charset="0"/>
              <a:ea typeface="Plus Jakarta Sans"/>
              <a:cs typeface="Times New Roman" panose="02020603050405020304" charset="0"/>
              <a:sym typeface="Plus Jakarta Sans"/>
            </a:endParaRPr>
          </a:p>
        </p:txBody>
      </p:sp>
      <p:sp>
        <p:nvSpPr>
          <p:cNvPr id="460" name="Google Shape;460;p33"/>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Quy trình nghiệp vụ đặt hàng</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461" name="Google Shape;461;p33"/>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465" name="Shape 465"/>
        <p:cNvGrpSpPr/>
        <p:nvPr/>
      </p:nvGrpSpPr>
      <p:grpSpPr>
        <a:xfrm>
          <a:off x="0" y="0"/>
          <a:ext cx="0" cy="0"/>
          <a:chOff x="0" y="0"/>
          <a:chExt cx="0" cy="0"/>
        </a:xfrm>
      </p:grpSpPr>
      <p:pic>
        <p:nvPicPr>
          <p:cNvPr id="466" name="Google Shape;466;p3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467" name="Google Shape;467;p34" descr="image.png"/>
          <p:cNvPicPr preferRelativeResize="0"/>
          <p:nvPr/>
        </p:nvPicPr>
        <p:blipFill rotWithShape="1">
          <a:blip r:embed="rId2"/>
          <a:srcRect/>
          <a:stretch>
            <a:fillRect/>
          </a:stretch>
        </p:blipFill>
        <p:spPr>
          <a:xfrm>
            <a:off x="666750" y="2971800"/>
            <a:ext cx="5262245" cy="2489200"/>
          </a:xfrm>
          <a:prstGeom prst="rect">
            <a:avLst/>
          </a:prstGeom>
          <a:noFill/>
          <a:ln>
            <a:noFill/>
          </a:ln>
        </p:spPr>
      </p:pic>
      <p:pic>
        <p:nvPicPr>
          <p:cNvPr id="468" name="Google Shape;468;p34" descr="image.png"/>
          <p:cNvPicPr preferRelativeResize="0"/>
          <p:nvPr/>
        </p:nvPicPr>
        <p:blipFill rotWithShape="1">
          <a:blip r:embed="rId3"/>
          <a:srcRect/>
          <a:stretch>
            <a:fillRect/>
          </a:stretch>
        </p:blipFill>
        <p:spPr>
          <a:xfrm>
            <a:off x="6262370" y="2971800"/>
            <a:ext cx="5262245" cy="2489200"/>
          </a:xfrm>
          <a:prstGeom prst="rect">
            <a:avLst/>
          </a:prstGeom>
          <a:noFill/>
          <a:ln>
            <a:noFill/>
          </a:ln>
        </p:spPr>
      </p:pic>
      <p:sp>
        <p:nvSpPr>
          <p:cNvPr id="469" name="Google Shape;469;p34"/>
          <p:cNvSpPr txBox="1"/>
          <p:nvPr/>
        </p:nvSpPr>
        <p:spPr>
          <a:xfrm>
            <a:off x="962025"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PDO &amp; Prepared Statements</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470" name="Google Shape;470;p34"/>
          <p:cNvSpPr/>
          <p:nvPr/>
        </p:nvSpPr>
        <p:spPr>
          <a:xfrm>
            <a:off x="962025"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71" name="Google Shape;471;p34"/>
          <p:cNvSpPr txBox="1"/>
          <p:nvPr/>
        </p:nvSpPr>
        <p:spPr>
          <a:xfrm>
            <a:off x="962025" y="3638550"/>
            <a:ext cx="4672012" cy="14770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Hệ thống loại bỏ hoàn toàn nguy cơ bị tấn công chèn mã lệnh độc hại SQL Injection bằng cách áp dụng công nghệ PDO và thực thi tham số hóa dữ liệu đầu vào nghiêm ngặt.</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472" name="Google Shape;472;p34"/>
          <p:cNvSpPr txBox="1"/>
          <p:nvPr/>
        </p:nvSpPr>
        <p:spPr>
          <a:xfrm>
            <a:off x="6557962"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Phân quyền bằng Middleware</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473" name="Google Shape;473;p34"/>
          <p:cNvSpPr/>
          <p:nvPr/>
        </p:nvSpPr>
        <p:spPr>
          <a:xfrm>
            <a:off x="6557962"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74" name="Google Shape;474;p34"/>
          <p:cNvSpPr txBox="1"/>
          <p:nvPr/>
        </p:nvSpPr>
        <p:spPr>
          <a:xfrm>
            <a:off x="6557962" y="3638550"/>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Sử dụng cơ chế kiểm soát quyền và Session Middleware chặt chẽ tại các trang quản trị để chặn đứng mọi hành vi cố tình xâm nhập trái phép từ người dùng thông thường.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475" name="Google Shape;475;p34"/>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Điểm nhấn: Bảo mật hệ thống</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476" name="Google Shape;476;p34"/>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480" name="Shape 480"/>
        <p:cNvGrpSpPr/>
        <p:nvPr/>
      </p:nvGrpSpPr>
      <p:grpSpPr>
        <a:xfrm>
          <a:off x="0" y="0"/>
          <a:ext cx="0" cy="0"/>
          <a:chOff x="0" y="0"/>
          <a:chExt cx="0" cy="0"/>
        </a:xfrm>
      </p:grpSpPr>
      <p:pic>
        <p:nvPicPr>
          <p:cNvPr id="481" name="Google Shape;481;p35"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482" name="Google Shape;482;p35"/>
          <p:cNvSpPr txBox="1"/>
          <p:nvPr/>
        </p:nvSpPr>
        <p:spPr>
          <a:xfrm>
            <a:off x="666750" y="3023870"/>
            <a:ext cx="5262245" cy="192468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9000" b="1" i="0" u="none" strike="noStrike" cap="none">
                <a:solidFill>
                  <a:srgbClr val="C5A880"/>
                </a:solidFill>
                <a:latin typeface="Times New Roman" panose="02020603050405020304" charset="0"/>
                <a:ea typeface="Playfair Display"/>
                <a:cs typeface="Times New Roman" panose="02020603050405020304" charset="0"/>
                <a:sym typeface="Playfair Display"/>
              </a:rPr>
              <a:t>100%</a:t>
            </a:r>
            <a:endParaRPr lang="en-US" sz="9000" b="1" i="0" u="none" strike="noStrike" cap="none">
              <a:solidFill>
                <a:srgbClr val="C5A880"/>
              </a:solidFill>
              <a:latin typeface="Times New Roman" panose="02020603050405020304" charset="0"/>
              <a:ea typeface="Playfair Display"/>
              <a:cs typeface="Times New Roman" panose="02020603050405020304" charset="0"/>
              <a:sym typeface="Playfair Display"/>
            </a:endParaRPr>
          </a:p>
        </p:txBody>
      </p:sp>
      <p:sp>
        <p:nvSpPr>
          <p:cNvPr id="483" name="Google Shape;483;p35"/>
          <p:cNvSpPr txBox="1"/>
          <p:nvPr/>
        </p:nvSpPr>
        <p:spPr>
          <a:xfrm>
            <a:off x="666750" y="4167187"/>
            <a:ext cx="5262562" cy="27686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C1613"/>
                </a:solidFill>
                <a:latin typeface="Times New Roman" panose="02020603050405020304" charset="0"/>
                <a:ea typeface="Plus Jakarta Sans"/>
                <a:cs typeface="Times New Roman" panose="02020603050405020304" charset="0"/>
                <a:sym typeface="Plus Jakarta Sans"/>
              </a:rPr>
              <a:t>CHỐNG DỮ </a:t>
            </a:r>
            <a:r>
              <a:rPr lang="en-US" sz="1800" b="1" i="0" u="none" strike="noStrike" cap="none">
                <a:solidFill>
                  <a:srgbClr val="1C1613"/>
                </a:solidFill>
                <a:latin typeface="Times New Roman" panose="02020603050405020304" charset="0"/>
                <a:ea typeface="Plus Jakarta Sans"/>
                <a:cs typeface="Times New Roman" panose="02020603050405020304" charset="0"/>
                <a:sym typeface="Plus Jakarta Sans"/>
              </a:rPr>
              <a:t>LIỆU RÁC</a:t>
            </a:r>
            <a:endParaRPr lang="en-US" sz="18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p:txBody>
      </p:sp>
      <p:sp>
        <p:nvSpPr>
          <p:cNvPr id="484" name="Google Shape;484;p35"/>
          <p:cNvSpPr txBox="1"/>
          <p:nvPr/>
        </p:nvSpPr>
        <p:spPr>
          <a:xfrm>
            <a:off x="6262687" y="3024187"/>
            <a:ext cx="5525690" cy="4305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Kỹ thuật Database Transaction</a:t>
            </a:r>
            <a:endParaRPr lang="en-US" sz="28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485" name="Google Shape;485;p35"/>
          <p:cNvSpPr txBox="1"/>
          <p:nvPr/>
        </p:nvSpPr>
        <p:spPr>
          <a:xfrm>
            <a:off x="6262687" y="3338512"/>
            <a:ext cx="526256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Quy trình lưu trữ thông tin hóa đơn đặt hàng yêu cầu ghi đồng thời vào cả hai bảng là ORDERS và ORDER_ITEMS.</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486" name="Google Shape;486;p35"/>
          <p:cNvSpPr txBox="1"/>
          <p:nvPr/>
        </p:nvSpPr>
        <p:spPr>
          <a:xfrm>
            <a:off x="6263322" y="4167187"/>
            <a:ext cx="5262562" cy="184658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Để tránh phát sinh lỗi dữ liệu rác dở dang nếu xảy ra lỗi máy chủ hoặc mất mạng ở giữa, hệ thống áp dụng kỹ thuật Transaction với cặp lệnh beginTransaction() và commit(). Khi có sự cố bất ngờ, toàn bộ tiến trình sẽ được hủy bỏ hoàn toàn bằng rollBack().</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487" name="Google Shape;487;p35"/>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Điểm nhấn: Toàn vẹn dữ liệu</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488" name="Google Shape;488;p35"/>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492" name="Shape 492"/>
        <p:cNvGrpSpPr/>
        <p:nvPr/>
      </p:nvGrpSpPr>
      <p:grpSpPr>
        <a:xfrm>
          <a:off x="0" y="0"/>
          <a:ext cx="0" cy="0"/>
          <a:chOff x="0" y="0"/>
          <a:chExt cx="0" cy="0"/>
        </a:xfrm>
      </p:grpSpPr>
      <p:pic>
        <p:nvPicPr>
          <p:cNvPr id="493" name="Google Shape;493;p3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494" name="Google Shape;494;p36" descr="image.png"/>
          <p:cNvPicPr preferRelativeResize="0"/>
          <p:nvPr/>
        </p:nvPicPr>
        <p:blipFill rotWithShape="1">
          <a:blip r:embed="rId2"/>
          <a:srcRect/>
          <a:stretch>
            <a:fillRect/>
          </a:stretch>
        </p:blipFill>
        <p:spPr>
          <a:xfrm>
            <a:off x="666750" y="2636043"/>
            <a:ext cx="10858500" cy="2185987"/>
          </a:xfrm>
          <a:prstGeom prst="rect">
            <a:avLst/>
          </a:prstGeom>
          <a:noFill/>
          <a:ln>
            <a:noFill/>
          </a:ln>
        </p:spPr>
      </p:pic>
      <p:graphicFrame>
        <p:nvGraphicFramePr>
          <p:cNvPr id="495" name="Google Shape;495;p36"/>
          <p:cNvGraphicFramePr/>
          <p:nvPr/>
        </p:nvGraphicFramePr>
        <p:xfrm>
          <a:off x="676275" y="2645568"/>
          <a:ext cx="10839425" cy="3000000"/>
        </p:xfrm>
        <a:graphic>
          <a:graphicData uri="http://schemas.openxmlformats.org/drawingml/2006/table">
            <a:tbl>
              <a:tblPr firstRow="1" bandRow="1">
                <a:noFill/>
                <a:tableStyleId>{7663FC6A-6F38-4B7B-9050-8D1B1B5FE652}</a:tableStyleId>
              </a:tblPr>
              <a:tblGrid>
                <a:gridCol w="2709850"/>
                <a:gridCol w="3793775"/>
                <a:gridCol w="4335800"/>
              </a:tblGrid>
              <a:tr h="433375">
                <a:tc>
                  <a:txBody>
                    <a:bodyPr/>
                    <a:lstStyle/>
                    <a:p>
                      <a:pPr marL="0" marR="0" lvl="0" indent="0" algn="l" rtl="0">
                        <a:spcBef>
                          <a:spcPts val="0"/>
                        </a:spcBef>
                        <a:spcAft>
                          <a:spcPts val="0"/>
                        </a:spcAft>
                        <a:buNone/>
                      </a:pPr>
                      <a:r>
                        <a:rPr lang="en-US" sz="2400" b="1" i="0" u="none" strike="noStrike" cap="none">
                          <a:solidFill>
                            <a:srgbClr val="1C1613"/>
                          </a:solidFill>
                          <a:latin typeface="Times New Roman" panose="02020603050405020304" charset="0"/>
                          <a:ea typeface="Plus Jakarta Sans"/>
                          <a:cs typeface="Times New Roman" panose="02020603050405020304" charset="0"/>
                          <a:sym typeface="Plus Jakarta Sans"/>
                        </a:rPr>
                        <a:t>Tiêu chí so sánh</a:t>
                      </a:r>
                      <a:endParaRPr lang="en-US" sz="24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c>
                  <a:txBody>
                    <a:bodyPr/>
                    <a:lstStyle/>
                    <a:p>
                      <a:pPr marL="0" marR="0" lvl="0" indent="0" algn="l" rtl="0">
                        <a:spcBef>
                          <a:spcPts val="0"/>
                        </a:spcBef>
                        <a:spcAft>
                          <a:spcPts val="0"/>
                        </a:spcAft>
                        <a:buNone/>
                      </a:pPr>
                      <a:r>
                        <a:rPr lang="en-US" sz="2400" b="1" i="0" u="none" strike="noStrike" cap="none">
                          <a:solidFill>
                            <a:srgbClr val="1C1613"/>
                          </a:solidFill>
                          <a:latin typeface="Times New Roman" panose="02020603050405020304" charset="0"/>
                          <a:ea typeface="Plus Jakarta Sans"/>
                          <a:cs typeface="Times New Roman" panose="02020603050405020304" charset="0"/>
                          <a:sym typeface="Plus Jakarta Sans"/>
                        </a:rPr>
                        <a:t>Quy trình thủ công cũ</a:t>
                      </a:r>
                      <a:endParaRPr lang="en-US" sz="24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c>
                  <a:txBody>
                    <a:bodyPr/>
                    <a:lstStyle/>
                    <a:p>
                      <a:pPr marL="0" marR="0" lvl="0" indent="0" algn="l" rtl="0">
                        <a:spcBef>
                          <a:spcPts val="0"/>
                        </a:spcBef>
                        <a:spcAft>
                          <a:spcPts val="0"/>
                        </a:spcAft>
                        <a:buNone/>
                      </a:pPr>
                      <a:r>
                        <a:rPr lang="en-US" sz="2400" b="1" i="0" u="none" strike="noStrike" cap="none">
                          <a:solidFill>
                            <a:srgbClr val="1C1613"/>
                          </a:solidFill>
                          <a:latin typeface="Times New Roman" panose="02020603050405020304" charset="0"/>
                          <a:ea typeface="Plus Jakarta Sans"/>
                          <a:cs typeface="Times New Roman" panose="02020603050405020304" charset="0"/>
                          <a:sym typeface="Plus Jakarta Sans"/>
                        </a:rPr>
                        <a:t>Hệ thống Website mới</a:t>
                      </a:r>
                      <a:endParaRPr lang="en-US" sz="24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r>
              <a:tr h="433375">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Tốc độ xử lý giao dịch</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Chậm chạp, dễ bỏ sót đơn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22C55E"/>
                          </a:solidFill>
                          <a:latin typeface="Times New Roman" panose="02020603050405020304" charset="0"/>
                          <a:ea typeface="Plus Jakarta Sans SemiBold"/>
                          <a:cs typeface="Times New Roman" panose="02020603050405020304" charset="0"/>
                          <a:sym typeface="Plus Jakarta Sans SemiBold"/>
                        </a:rPr>
                        <a:t>Tự động hóa tức thì 24/7</a:t>
                      </a:r>
                      <a:endParaRPr lang="en-US" sz="1600" b="0" i="0" u="none" strike="noStrike" cap="none">
                        <a:solidFill>
                          <a:srgbClr val="22C55E"/>
                        </a:solidFill>
                        <a:latin typeface="Times New Roman" panose="02020603050405020304" charset="0"/>
                        <a:ea typeface="Plus Jakarta Sans SemiBold"/>
                        <a:cs typeface="Times New Roman" panose="02020603050405020304" charset="0"/>
                        <a:sym typeface="Plus Jakarta Sans SemiBold"/>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33375">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Quản lý lượng tồn kho</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Ghi tay rườm rà, dễ gây sai lệch</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22C55E"/>
                          </a:solidFill>
                          <a:latin typeface="Times New Roman" panose="02020603050405020304" charset="0"/>
                          <a:ea typeface="Plus Jakarta Sans SemiBold"/>
                          <a:cs typeface="Times New Roman" panose="02020603050405020304" charset="0"/>
                          <a:sym typeface="Plus Jakarta Sans SemiBold"/>
                        </a:rPr>
                        <a:t>Khấu trừ tồn kho tự động chuẩn xác</a:t>
                      </a:r>
                      <a:endParaRPr lang="en-US" sz="1600" b="0" i="0" u="none" strike="noStrike" cap="none">
                        <a:solidFill>
                          <a:srgbClr val="22C55E"/>
                        </a:solidFill>
                        <a:latin typeface="Times New Roman" panose="02020603050405020304" charset="0"/>
                        <a:ea typeface="Plus Jakarta Sans SemiBold"/>
                        <a:cs typeface="Times New Roman" panose="02020603050405020304" charset="0"/>
                        <a:sym typeface="Plus Jakarta Sans SemiBold"/>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33375">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Thống kê doanh thu</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Mất thời gian cộng sổ Excel tay</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22C55E"/>
                          </a:solidFill>
                          <a:latin typeface="Times New Roman" panose="02020603050405020304" charset="0"/>
                          <a:ea typeface="Plus Jakarta Sans SemiBold"/>
                          <a:cs typeface="Times New Roman" panose="02020603050405020304" charset="0"/>
                          <a:sym typeface="Plus Jakarta Sans SemiBold"/>
                        </a:rPr>
                        <a:t>Xuất báo cáo tự động chỉ với 1 Click</a:t>
                      </a:r>
                      <a:endParaRPr lang="en-US" sz="1600" b="0" i="0" u="none" strike="noStrike" cap="none">
                        <a:solidFill>
                          <a:srgbClr val="22C55E"/>
                        </a:solidFill>
                        <a:latin typeface="Times New Roman" panose="02020603050405020304" charset="0"/>
                        <a:ea typeface="Plus Jakarta Sans SemiBold"/>
                        <a:cs typeface="Times New Roman" panose="02020603050405020304" charset="0"/>
                        <a:sym typeface="Plus Jakarta Sans SemiBold"/>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33400">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Phạm vi tiếp cận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Giới hạn theo không gian vật lý</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22C55E"/>
                          </a:solidFill>
                          <a:latin typeface="Times New Roman" panose="02020603050405020304" charset="0"/>
                          <a:ea typeface="Plus Jakarta Sans SemiBold"/>
                          <a:cs typeface="Times New Roman" panose="02020603050405020304" charset="0"/>
                          <a:sym typeface="Plus Jakarta Sans SemiBold"/>
                        </a:rPr>
                        <a:t>Mở rộng quy mô kinh doanh không giới hạn</a:t>
                      </a:r>
                      <a:endParaRPr lang="en-US" sz="1600" b="0" i="0" u="none" strike="noStrike" cap="none">
                        <a:solidFill>
                          <a:srgbClr val="22C55E"/>
                        </a:solidFill>
                        <a:latin typeface="Times New Roman" panose="02020603050405020304" charset="0"/>
                        <a:ea typeface="Plus Jakarta Sans SemiBold"/>
                        <a:cs typeface="Times New Roman" panose="02020603050405020304" charset="0"/>
                        <a:sym typeface="Plus Jakarta Sans SemiBold"/>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bl>
          </a:graphicData>
        </a:graphic>
      </p:graphicFrame>
      <p:sp>
        <p:nvSpPr>
          <p:cNvPr id="496" name="Google Shape;496;p36"/>
          <p:cNvSpPr/>
          <p:nvPr/>
        </p:nvSpPr>
        <p:spPr>
          <a:xfrm>
            <a:off x="676275" y="3083718"/>
            <a:ext cx="270986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97" name="Google Shape;497;p36"/>
          <p:cNvSpPr/>
          <p:nvPr/>
        </p:nvSpPr>
        <p:spPr>
          <a:xfrm>
            <a:off x="3386137" y="3083718"/>
            <a:ext cx="3793777"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98" name="Google Shape;498;p36"/>
          <p:cNvSpPr/>
          <p:nvPr/>
        </p:nvSpPr>
        <p:spPr>
          <a:xfrm>
            <a:off x="7179915" y="3083718"/>
            <a:ext cx="4335809"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499" name="Google Shape;499;p36"/>
          <p:cNvSpPr/>
          <p:nvPr/>
        </p:nvSpPr>
        <p:spPr>
          <a:xfrm>
            <a:off x="676275" y="3514725"/>
            <a:ext cx="270986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00" name="Google Shape;500;p36"/>
          <p:cNvSpPr/>
          <p:nvPr/>
        </p:nvSpPr>
        <p:spPr>
          <a:xfrm>
            <a:off x="3386137" y="3514725"/>
            <a:ext cx="3793777"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01" name="Google Shape;501;p36"/>
          <p:cNvSpPr/>
          <p:nvPr/>
        </p:nvSpPr>
        <p:spPr>
          <a:xfrm>
            <a:off x="7179915" y="3514725"/>
            <a:ext cx="4335809"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02" name="Google Shape;502;p36"/>
          <p:cNvSpPr/>
          <p:nvPr/>
        </p:nvSpPr>
        <p:spPr>
          <a:xfrm>
            <a:off x="676275" y="3945731"/>
            <a:ext cx="270986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03" name="Google Shape;503;p36"/>
          <p:cNvSpPr/>
          <p:nvPr/>
        </p:nvSpPr>
        <p:spPr>
          <a:xfrm>
            <a:off x="3386137" y="3945731"/>
            <a:ext cx="3793777"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04" name="Google Shape;504;p36"/>
          <p:cNvSpPr/>
          <p:nvPr/>
        </p:nvSpPr>
        <p:spPr>
          <a:xfrm>
            <a:off x="7179915" y="3945731"/>
            <a:ext cx="4335809"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05" name="Google Shape;505;p36"/>
          <p:cNvSpPr/>
          <p:nvPr/>
        </p:nvSpPr>
        <p:spPr>
          <a:xfrm>
            <a:off x="676275" y="4376737"/>
            <a:ext cx="270986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06" name="Google Shape;506;p36"/>
          <p:cNvSpPr/>
          <p:nvPr/>
        </p:nvSpPr>
        <p:spPr>
          <a:xfrm>
            <a:off x="3386137" y="4376737"/>
            <a:ext cx="3793777"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07" name="Google Shape;507;p36"/>
          <p:cNvSpPr/>
          <p:nvPr/>
        </p:nvSpPr>
        <p:spPr>
          <a:xfrm>
            <a:off x="7179915" y="4376737"/>
            <a:ext cx="4335809"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08" name="Google Shape;508;p36"/>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Hiệu quả vận hành hệ thống mới</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509" name="Google Shape;509;p36"/>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513" name="Shape 513"/>
        <p:cNvGrpSpPr/>
        <p:nvPr/>
      </p:nvGrpSpPr>
      <p:grpSpPr>
        <a:xfrm>
          <a:off x="0" y="0"/>
          <a:ext cx="0" cy="0"/>
          <a:chOff x="0" y="0"/>
          <a:chExt cx="0" cy="0"/>
        </a:xfrm>
      </p:grpSpPr>
      <p:pic>
        <p:nvPicPr>
          <p:cNvPr id="514" name="Google Shape;514;p3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515" name="Google Shape;515;p37" descr="image.png"/>
          <p:cNvPicPr preferRelativeResize="0"/>
          <p:nvPr/>
        </p:nvPicPr>
        <p:blipFill rotWithShape="1">
          <a:blip r:embed="rId2"/>
          <a:srcRect/>
          <a:stretch>
            <a:fillRect/>
          </a:stretch>
        </p:blipFill>
        <p:spPr>
          <a:xfrm>
            <a:off x="666750" y="2636043"/>
            <a:ext cx="10858500" cy="2185987"/>
          </a:xfrm>
          <a:prstGeom prst="rect">
            <a:avLst/>
          </a:prstGeom>
          <a:noFill/>
          <a:ln>
            <a:noFill/>
          </a:ln>
        </p:spPr>
      </p:pic>
      <p:graphicFrame>
        <p:nvGraphicFramePr>
          <p:cNvPr id="516" name="Google Shape;516;p37"/>
          <p:cNvGraphicFramePr/>
          <p:nvPr/>
        </p:nvGraphicFramePr>
        <p:xfrm>
          <a:off x="676275" y="2645568"/>
          <a:ext cx="10839450" cy="3000000"/>
        </p:xfrm>
        <a:graphic>
          <a:graphicData uri="http://schemas.openxmlformats.org/drawingml/2006/table">
            <a:tbl>
              <a:tblPr firstRow="1" bandRow="1">
                <a:noFill/>
                <a:tableStyleId>{7663FC6A-6F38-4B7B-9050-8D1B1B5FE652}</a:tableStyleId>
              </a:tblPr>
              <a:tblGrid>
                <a:gridCol w="3251750"/>
                <a:gridCol w="7587700"/>
              </a:tblGrid>
              <a:tr h="433375">
                <a:tc>
                  <a:txBody>
                    <a:bodyPr/>
                    <a:lstStyle/>
                    <a:p>
                      <a:pPr marL="0" marR="0" lvl="0" indent="0" algn="l" rtl="0">
                        <a:spcBef>
                          <a:spcPts val="0"/>
                        </a:spcBef>
                        <a:spcAft>
                          <a:spcPts val="0"/>
                        </a:spcAft>
                        <a:buNone/>
                      </a:pPr>
                      <a:r>
                        <a:rPr lang="en-US" sz="2400" b="1" i="0" u="none" strike="noStrike" cap="none">
                          <a:solidFill>
                            <a:srgbClr val="1C1613"/>
                          </a:solidFill>
                          <a:latin typeface="Times New Roman" panose="02020603050405020304" charset="0"/>
                          <a:ea typeface="Plus Jakarta Sans"/>
                          <a:cs typeface="Times New Roman" panose="02020603050405020304" charset="0"/>
                          <a:sym typeface="Plus Jakarta Sans"/>
                        </a:rPr>
                        <a:t>Phân hệ</a:t>
                      </a:r>
                      <a:endParaRPr lang="en-US" sz="24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c>
                  <a:txBody>
                    <a:bodyPr/>
                    <a:lstStyle/>
                    <a:p>
                      <a:pPr marL="0" marR="0" lvl="0" indent="0" algn="l" rtl="0">
                        <a:spcBef>
                          <a:spcPts val="0"/>
                        </a:spcBef>
                        <a:spcAft>
                          <a:spcPts val="0"/>
                        </a:spcAft>
                        <a:buNone/>
                      </a:pPr>
                      <a:r>
                        <a:rPr lang="en-US" sz="2400" b="1" i="0" u="none" strike="noStrike" cap="none">
                          <a:solidFill>
                            <a:srgbClr val="1C1613"/>
                          </a:solidFill>
                          <a:latin typeface="Times New Roman" panose="02020603050405020304" charset="0"/>
                          <a:ea typeface="Plus Jakarta Sans"/>
                          <a:cs typeface="Times New Roman" panose="02020603050405020304" charset="0"/>
                          <a:sym typeface="Plus Jakarta Sans"/>
                        </a:rPr>
                        <a:t>Cấu hình &amp; Phần mềm sử dụng</a:t>
                      </a:r>
                      <a:endParaRPr lang="en-US" sz="2400" b="1" i="0" u="none" strike="noStrike" cap="none">
                        <a:solidFill>
                          <a:srgbClr val="1C1613"/>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ECE2"/>
                    </a:solidFill>
                  </a:tcPr>
                </a:tc>
              </a:tr>
              <a:tr h="433375">
                <a:tc>
                  <a:txBody>
                    <a:bodyPr/>
                    <a:lstStyle/>
                    <a:p>
                      <a:pPr marL="0" marR="0" lvl="0" indent="0" algn="l" rtl="0">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Thiết bị phần cứng</a:t>
                      </a:r>
                      <a:endPar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CPU Intel Core i5, Dung lượng RAM 8GB, Ổ cứng SSD 256GB.</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33375">
                <a:tc>
                  <a:txBody>
                    <a:bodyPr/>
                    <a:lstStyle/>
                    <a:p>
                      <a:pPr marL="0" marR="0" lvl="0" indent="0" algn="l" rtl="0">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Môi trường máy chủ</a:t>
                      </a:r>
                      <a:endPar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Hệ điều hành Windows 10/11, sử dụng bộ cài máy chủ XAMPP (Apache, MySQL).</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33375">
                <a:tc>
                  <a:txBody>
                    <a:bodyPr/>
                    <a:lstStyle/>
                    <a:p>
                      <a:pPr marL="0" marR="0" lvl="0" indent="0" algn="l" rtl="0">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Biên soạn mã nguồn</a:t>
                      </a:r>
                      <a:endPar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Trình biên soạn mã Visual Studio Code thông minh và tiện lợi.</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33400">
                <a:tc>
                  <a:txBody>
                    <a:bodyPr/>
                    <a:lstStyle/>
                    <a:p>
                      <a:pPr marL="0" marR="0" lvl="0" indent="0" algn="l" rtl="0">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Quản lý phiên bản</a:t>
                      </a:r>
                      <a:endPar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Công cụ Git &amp; GitHub để kiểm soát mã nguồn dự án an toàn.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bl>
          </a:graphicData>
        </a:graphic>
      </p:graphicFrame>
      <p:sp>
        <p:nvSpPr>
          <p:cNvPr id="517" name="Google Shape;517;p37"/>
          <p:cNvSpPr/>
          <p:nvPr/>
        </p:nvSpPr>
        <p:spPr>
          <a:xfrm>
            <a:off x="676275" y="3083718"/>
            <a:ext cx="3251745"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18" name="Google Shape;518;p37"/>
          <p:cNvSpPr/>
          <p:nvPr/>
        </p:nvSpPr>
        <p:spPr>
          <a:xfrm>
            <a:off x="3928020" y="3083718"/>
            <a:ext cx="7587704"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19" name="Google Shape;519;p37"/>
          <p:cNvSpPr/>
          <p:nvPr/>
        </p:nvSpPr>
        <p:spPr>
          <a:xfrm>
            <a:off x="676275" y="3514725"/>
            <a:ext cx="3251745"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20" name="Google Shape;520;p37"/>
          <p:cNvSpPr/>
          <p:nvPr/>
        </p:nvSpPr>
        <p:spPr>
          <a:xfrm>
            <a:off x="3928020" y="3514725"/>
            <a:ext cx="7587704"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21" name="Google Shape;521;p37"/>
          <p:cNvSpPr/>
          <p:nvPr/>
        </p:nvSpPr>
        <p:spPr>
          <a:xfrm>
            <a:off x="676275" y="3945731"/>
            <a:ext cx="3251745"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22" name="Google Shape;522;p37"/>
          <p:cNvSpPr/>
          <p:nvPr/>
        </p:nvSpPr>
        <p:spPr>
          <a:xfrm>
            <a:off x="3928020" y="3945731"/>
            <a:ext cx="7587704"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23" name="Google Shape;523;p37"/>
          <p:cNvSpPr/>
          <p:nvPr/>
        </p:nvSpPr>
        <p:spPr>
          <a:xfrm>
            <a:off x="676275" y="4376737"/>
            <a:ext cx="3251745"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24" name="Google Shape;524;p37"/>
          <p:cNvSpPr/>
          <p:nvPr/>
        </p:nvSpPr>
        <p:spPr>
          <a:xfrm>
            <a:off x="3928020" y="4376737"/>
            <a:ext cx="7587704"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25" name="Google Shape;525;p37"/>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3.1. Môi trường phát triển</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526" name="Google Shape;526;p37"/>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530" name="Shape 530"/>
        <p:cNvGrpSpPr/>
        <p:nvPr/>
      </p:nvGrpSpPr>
      <p:grpSpPr>
        <a:xfrm>
          <a:off x="0" y="0"/>
          <a:ext cx="0" cy="0"/>
          <a:chOff x="0" y="0"/>
          <a:chExt cx="0" cy="0"/>
        </a:xfrm>
      </p:grpSpPr>
      <p:pic>
        <p:nvPicPr>
          <p:cNvPr id="531" name="Google Shape;531;p3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532" name="Google Shape;532;p38" descr="image.png"/>
          <p:cNvPicPr preferRelativeResize="0"/>
          <p:nvPr/>
        </p:nvPicPr>
        <p:blipFill rotWithShape="1">
          <a:blip r:embed="rId2"/>
          <a:srcRect/>
          <a:stretch>
            <a:fillRect/>
          </a:stretch>
        </p:blipFill>
        <p:spPr>
          <a:xfrm>
            <a:off x="666750" y="2823845"/>
            <a:ext cx="5262245" cy="2764790"/>
          </a:xfrm>
          <a:prstGeom prst="rect">
            <a:avLst/>
          </a:prstGeom>
          <a:noFill/>
          <a:ln>
            <a:noFill/>
          </a:ln>
        </p:spPr>
      </p:pic>
      <p:pic>
        <p:nvPicPr>
          <p:cNvPr id="533" name="Google Shape;533;p38" descr="image.png"/>
          <p:cNvPicPr preferRelativeResize="0"/>
          <p:nvPr/>
        </p:nvPicPr>
        <p:blipFill rotWithShape="1">
          <a:blip r:embed="rId3"/>
          <a:srcRect/>
          <a:stretch>
            <a:fillRect/>
          </a:stretch>
        </p:blipFill>
        <p:spPr>
          <a:xfrm>
            <a:off x="6262370" y="2823845"/>
            <a:ext cx="5262245" cy="2706370"/>
          </a:xfrm>
          <a:prstGeom prst="rect">
            <a:avLst/>
          </a:prstGeom>
          <a:noFill/>
          <a:ln>
            <a:noFill/>
          </a:ln>
        </p:spPr>
      </p:pic>
      <p:sp>
        <p:nvSpPr>
          <p:cNvPr id="534" name="Google Shape;534;p38"/>
          <p:cNvSpPr txBox="1"/>
          <p:nvPr/>
        </p:nvSpPr>
        <p:spPr>
          <a:xfrm>
            <a:off x="962025"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Khởi tạo bảng Khách hàng</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535" name="Google Shape;535;p38"/>
          <p:cNvSpPr/>
          <p:nvPr/>
        </p:nvSpPr>
        <p:spPr>
          <a:xfrm>
            <a:off x="962025"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36" name="Google Shape;536;p38"/>
          <p:cNvSpPr txBox="1"/>
          <p:nvPr/>
        </p:nvSpPr>
        <p:spPr>
          <a:xfrm>
            <a:off x="962025" y="349091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Bảng CUSTOMERS:</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Lưu vết và bảo mật dữ liệu khách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537" name="Google Shape;537;p38"/>
          <p:cNvSpPr txBox="1"/>
          <p:nvPr/>
        </p:nvSpPr>
        <p:spPr>
          <a:xfrm>
            <a:off x="962025" y="4229417"/>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Thiết lập các trường thuộc tính cốt lõi bao gồm: id (Khóa chính), full_name, email, phone, address, username, password (Được băm mã hóa bảo mật).</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538" name="Google Shape;538;p38"/>
          <p:cNvSpPr txBox="1"/>
          <p:nvPr/>
        </p:nvSpPr>
        <p:spPr>
          <a:xfrm>
            <a:off x="6557962"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Khởi tạo Sản phẩm &amp; Phân loại</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539" name="Google Shape;539;p38"/>
          <p:cNvSpPr/>
          <p:nvPr/>
        </p:nvSpPr>
        <p:spPr>
          <a:xfrm>
            <a:off x="6557962"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40" name="Google Shape;540;p38"/>
          <p:cNvSpPr txBox="1"/>
          <p:nvPr/>
        </p:nvSpPr>
        <p:spPr>
          <a:xfrm>
            <a:off x="6557962" y="349091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Bảng PRODUCTS &amp; CATEGORIES:</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Quản lý danh mục hàng hóa nước hoa hiệu quả.</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541" name="Google Shape;541;p38"/>
          <p:cNvSpPr txBox="1"/>
          <p:nvPr/>
        </p:nvSpPr>
        <p:spPr>
          <a:xfrm>
            <a:off x="6558597" y="4279582"/>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Thiết lập các liên kết chặt chẽ bằng khóa ngoại category_id tham chiếu trực tiếp đến bảng danh mục sản phẩm, đồng bộ dữ liệu thời gian thực.</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542" name="Google Shape;542;p38"/>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3.2. Hiện thực CSDL (Phần 1)</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543" name="Google Shape;543;p38"/>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547" name="Shape 547"/>
        <p:cNvGrpSpPr/>
        <p:nvPr/>
      </p:nvGrpSpPr>
      <p:grpSpPr>
        <a:xfrm>
          <a:off x="0" y="0"/>
          <a:ext cx="0" cy="0"/>
          <a:chOff x="0" y="0"/>
          <a:chExt cx="0" cy="0"/>
        </a:xfrm>
      </p:grpSpPr>
      <p:pic>
        <p:nvPicPr>
          <p:cNvPr id="548" name="Google Shape;548;p39"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549" name="Google Shape;549;p39" descr="image.png"/>
          <p:cNvPicPr preferRelativeResize="0"/>
          <p:nvPr/>
        </p:nvPicPr>
        <p:blipFill rotWithShape="1">
          <a:blip r:embed="rId2"/>
          <a:srcRect/>
          <a:stretch>
            <a:fillRect/>
          </a:stretch>
        </p:blipFill>
        <p:spPr>
          <a:xfrm>
            <a:off x="666750" y="2823845"/>
            <a:ext cx="5262245" cy="2658110"/>
          </a:xfrm>
          <a:prstGeom prst="rect">
            <a:avLst/>
          </a:prstGeom>
          <a:noFill/>
          <a:ln>
            <a:noFill/>
          </a:ln>
        </p:spPr>
      </p:pic>
      <p:pic>
        <p:nvPicPr>
          <p:cNvPr id="550" name="Google Shape;550;p39" descr="image.png"/>
          <p:cNvPicPr preferRelativeResize="0"/>
          <p:nvPr/>
        </p:nvPicPr>
        <p:blipFill rotWithShape="1">
          <a:blip r:embed="rId3"/>
          <a:srcRect/>
          <a:stretch>
            <a:fillRect/>
          </a:stretch>
        </p:blipFill>
        <p:spPr>
          <a:xfrm>
            <a:off x="6262370" y="2823845"/>
            <a:ext cx="5262245" cy="2658110"/>
          </a:xfrm>
          <a:prstGeom prst="rect">
            <a:avLst/>
          </a:prstGeom>
          <a:noFill/>
          <a:ln>
            <a:noFill/>
          </a:ln>
        </p:spPr>
      </p:pic>
      <p:sp>
        <p:nvSpPr>
          <p:cNvPr id="551" name="Google Shape;551;p39"/>
          <p:cNvSpPr txBox="1"/>
          <p:nvPr/>
        </p:nvSpPr>
        <p:spPr>
          <a:xfrm>
            <a:off x="962025"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Khởi tạo cấu trúc Đơn hàng</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552" name="Google Shape;552;p39"/>
          <p:cNvSpPr/>
          <p:nvPr/>
        </p:nvSpPr>
        <p:spPr>
          <a:xfrm>
            <a:off x="962025"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53" name="Google Shape;553;p39"/>
          <p:cNvSpPr txBox="1"/>
          <p:nvPr/>
        </p:nvSpPr>
        <p:spPr>
          <a:xfrm>
            <a:off x="962025" y="3490912"/>
            <a:ext cx="4672012" cy="36893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Bảng ORDERS:</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Lưu trữ hồ sơ thông tin đặt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554" name="Google Shape;554;p39"/>
          <p:cNvSpPr txBox="1"/>
          <p:nvPr/>
        </p:nvSpPr>
        <p:spPr>
          <a:xfrm>
            <a:off x="962025" y="3859847"/>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Thiết lập các trường bao gồm: id, order_code (Mã đơn ngẫu nhiên), customer_id (Khóa ngoại FK liên kết khách đặt), receiver_name, total_amount, status.</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555" name="Google Shape;555;p39"/>
          <p:cNvSpPr txBox="1"/>
          <p:nvPr/>
        </p:nvSpPr>
        <p:spPr>
          <a:xfrm>
            <a:off x="6557962"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Khởi tạo chi tiết Đơn hàng</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556" name="Google Shape;556;p39"/>
          <p:cNvSpPr/>
          <p:nvPr/>
        </p:nvSpPr>
        <p:spPr>
          <a:xfrm>
            <a:off x="6557962"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557" name="Google Shape;557;p39"/>
          <p:cNvSpPr txBox="1"/>
          <p:nvPr/>
        </p:nvSpPr>
        <p:spPr>
          <a:xfrm>
            <a:off x="6557962" y="349091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Bảng ORDER_ITEMS:</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Quản lý từng dòng sản phẩm thuộc hóa đơn.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558" name="Google Shape;558;p39"/>
          <p:cNvSpPr txBox="1"/>
          <p:nvPr/>
        </p:nvSpPr>
        <p:spPr>
          <a:xfrm>
            <a:off x="6557962" y="4111942"/>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Các trường thuộc tính bao gồm: id, order_id (Khóa ngoại), product_id (Khóa ngoại tham chiếu đến bảng sản phẩm), quantity, line_total.</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559" name="Google Shape;559;p39"/>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3.2. Hiện thực CSDL (Phần 2)</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560" name="Google Shape;560;p39"/>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564" name="Shape 564"/>
        <p:cNvGrpSpPr/>
        <p:nvPr/>
      </p:nvGrpSpPr>
      <p:grpSpPr>
        <a:xfrm>
          <a:off x="0" y="0"/>
          <a:ext cx="0" cy="0"/>
          <a:chOff x="0" y="0"/>
          <a:chExt cx="0" cy="0"/>
        </a:xfrm>
      </p:grpSpPr>
      <p:pic>
        <p:nvPicPr>
          <p:cNvPr id="565" name="Google Shape;565;p40"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566" name="Google Shape;566;p40" descr="image.png"/>
          <p:cNvPicPr preferRelativeResize="0"/>
          <p:nvPr/>
        </p:nvPicPr>
        <p:blipFill rotWithShape="1">
          <a:blip r:embed="rId2"/>
          <a:srcRect/>
          <a:stretch>
            <a:fillRect/>
          </a:stretch>
        </p:blipFill>
        <p:spPr>
          <a:xfrm>
            <a:off x="6262687" y="2062162"/>
            <a:ext cx="5262562" cy="3333750"/>
          </a:xfrm>
          <a:prstGeom prst="rect">
            <a:avLst/>
          </a:prstGeom>
          <a:noFill/>
          <a:ln>
            <a:noFill/>
          </a:ln>
        </p:spPr>
      </p:pic>
      <p:sp>
        <p:nvSpPr>
          <p:cNvPr id="567" name="Google Shape;567;p40"/>
          <p:cNvSpPr txBox="1"/>
          <p:nvPr/>
        </p:nvSpPr>
        <p:spPr>
          <a:xfrm>
            <a:off x="666750" y="2062162"/>
            <a:ext cx="552569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Luồng vận hành Đăng ký &amp; Đăng nhập</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568" name="Google Shape;568;p40"/>
          <p:cNvSpPr txBox="1"/>
          <p:nvPr/>
        </p:nvSpPr>
        <p:spPr>
          <a:xfrm>
            <a:off x="1047750" y="2376487"/>
            <a:ext cx="4881562" cy="103251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Đăng ký:</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Tiếp nhận thông tin đăng ký mới, thực thi hàm password_hash() để mã hóa một chiều mật khẩu trước khi lưu trữ.</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569" name="Google Shape;569;p40"/>
          <p:cNvSpPr txBox="1"/>
          <p:nvPr/>
        </p:nvSpPr>
        <p:spPr>
          <a:xfrm>
            <a:off x="1047750" y="2921198"/>
            <a:ext cx="4881562" cy="103251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Đăng nhập:</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Thực hiện đối chiếu chuỗi mật khẩu thông qua password_verify(). Nếu khớp, tiến hành khởi tạo Session truy cập.</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pic>
        <p:nvPicPr>
          <p:cNvPr id="570" name="Google Shape;570;p40" descr="image.png"/>
          <p:cNvPicPr preferRelativeResize="0"/>
          <p:nvPr/>
        </p:nvPicPr>
        <p:blipFill rotWithShape="1">
          <a:blip r:embed="rId3"/>
          <a:srcRect/>
          <a:stretch>
            <a:fillRect/>
          </a:stretch>
        </p:blipFill>
        <p:spPr>
          <a:xfrm>
            <a:off x="6272212" y="2071687"/>
            <a:ext cx="5243512" cy="3314700"/>
          </a:xfrm>
          <a:prstGeom prst="rect">
            <a:avLst/>
          </a:prstGeom>
          <a:noFill/>
          <a:ln>
            <a:noFill/>
          </a:ln>
        </p:spPr>
      </p:pic>
      <p:sp>
        <p:nvSpPr>
          <p:cNvPr id="571" name="Google Shape;571;p40"/>
          <p:cNvSpPr txBox="1"/>
          <p:nvPr/>
        </p:nvSpPr>
        <p:spPr>
          <a:xfrm>
            <a:off x="666750" y="2376487"/>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572" name="Google Shape;572;p40"/>
          <p:cNvSpPr txBox="1"/>
          <p:nvPr/>
        </p:nvSpPr>
        <p:spPr>
          <a:xfrm>
            <a:off x="666750" y="2921198"/>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pic>
        <p:nvPicPr>
          <p:cNvPr id="573" name="Google Shape;573;p40" descr="image.png"/>
          <p:cNvPicPr preferRelativeResize="0"/>
          <p:nvPr/>
        </p:nvPicPr>
        <p:blipFill rotWithShape="1">
          <a:blip r:embed="rId4"/>
          <a:srcRect/>
          <a:stretch>
            <a:fillRect/>
          </a:stretch>
        </p:blipFill>
        <p:spPr>
          <a:xfrm>
            <a:off x="714375" y="2390775"/>
            <a:ext cx="238125" cy="200025"/>
          </a:xfrm>
          <a:prstGeom prst="rect">
            <a:avLst/>
          </a:prstGeom>
          <a:noFill/>
          <a:ln>
            <a:noFill/>
          </a:ln>
        </p:spPr>
      </p:pic>
      <p:pic>
        <p:nvPicPr>
          <p:cNvPr id="574" name="Google Shape;574;p40" descr="image.png"/>
          <p:cNvPicPr preferRelativeResize="0"/>
          <p:nvPr/>
        </p:nvPicPr>
        <p:blipFill rotWithShape="1">
          <a:blip r:embed="rId5"/>
          <a:srcRect/>
          <a:stretch>
            <a:fillRect/>
          </a:stretch>
        </p:blipFill>
        <p:spPr>
          <a:xfrm>
            <a:off x="714375" y="2935485"/>
            <a:ext cx="190500" cy="200025"/>
          </a:xfrm>
          <a:prstGeom prst="rect">
            <a:avLst/>
          </a:prstGeom>
          <a:noFill/>
          <a:ln>
            <a:noFill/>
          </a:ln>
        </p:spPr>
      </p:pic>
      <p:sp>
        <p:nvSpPr>
          <p:cNvPr id="575" name="Google Shape;575;p40"/>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3.3.1 &amp; 3.3.2. Đăng ký &amp; Đăng nhập</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576" name="Google Shape;576;p40"/>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pic>
        <p:nvPicPr>
          <p:cNvPr id="2" name="Picture 1"/>
          <p:cNvPicPr>
            <a:picLocks noChangeAspect="1"/>
          </p:cNvPicPr>
          <p:nvPr/>
        </p:nvPicPr>
        <p:blipFill>
          <a:blip r:embed="rId6"/>
          <a:stretch>
            <a:fillRect/>
          </a:stretch>
        </p:blipFill>
        <p:spPr>
          <a:xfrm>
            <a:off x="6170930" y="1179195"/>
            <a:ext cx="5729605" cy="52908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580" name="Shape 580"/>
        <p:cNvGrpSpPr/>
        <p:nvPr/>
      </p:nvGrpSpPr>
      <p:grpSpPr>
        <a:xfrm>
          <a:off x="0" y="0"/>
          <a:ext cx="0" cy="0"/>
          <a:chOff x="0" y="0"/>
          <a:chExt cx="0" cy="0"/>
        </a:xfrm>
      </p:grpSpPr>
      <p:pic>
        <p:nvPicPr>
          <p:cNvPr id="581" name="Google Shape;581;p4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582" name="Google Shape;582;p41" descr="image.png"/>
          <p:cNvPicPr preferRelativeResize="0"/>
          <p:nvPr/>
        </p:nvPicPr>
        <p:blipFill rotWithShape="1">
          <a:blip r:embed="rId2"/>
          <a:srcRect/>
          <a:stretch>
            <a:fillRect/>
          </a:stretch>
        </p:blipFill>
        <p:spPr>
          <a:xfrm>
            <a:off x="6262687" y="2062162"/>
            <a:ext cx="5262562" cy="3333750"/>
          </a:xfrm>
          <a:prstGeom prst="rect">
            <a:avLst/>
          </a:prstGeom>
          <a:noFill/>
          <a:ln>
            <a:noFill/>
          </a:ln>
        </p:spPr>
      </p:pic>
      <p:sp>
        <p:nvSpPr>
          <p:cNvPr id="583" name="Google Shape;583;p41"/>
          <p:cNvSpPr txBox="1"/>
          <p:nvPr/>
        </p:nvSpPr>
        <p:spPr>
          <a:xfrm>
            <a:off x="666750" y="1918017"/>
            <a:ext cx="552569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Luồng nghiệp vụ mua sắm</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584" name="Google Shape;584;p41"/>
          <p:cNvSpPr txBox="1"/>
          <p:nvPr/>
        </p:nvSpPr>
        <p:spPr>
          <a:xfrm>
            <a:off x="1047750" y="2376487"/>
            <a:ext cx="4881562" cy="103251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Hiển thị nước hoa:</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Thực thi câu lệnh truy vấn dữ liệu SELECT * FROM products để hiển thị danh sách sản phẩm mượt mà lên giao diện.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585" name="Google Shape;585;p41"/>
          <p:cNvSpPr txBox="1"/>
          <p:nvPr/>
        </p:nvSpPr>
        <p:spPr>
          <a:xfrm>
            <a:off x="1047750" y="3227903"/>
            <a:ext cx="4881562" cy="103251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Quản lý giỏ hàng:</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Tạo cơ chế định danh khóa giỏ hàng thông minh (Mã SP + Màu sắc + Dung tích), lưu trữ toàn vẹn trong Session.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pic>
        <p:nvPicPr>
          <p:cNvPr id="586" name="Google Shape;586;p41" descr="image.png"/>
          <p:cNvPicPr preferRelativeResize="0"/>
          <p:nvPr/>
        </p:nvPicPr>
        <p:blipFill rotWithShape="1">
          <a:blip r:embed="rId3"/>
          <a:srcRect/>
          <a:stretch>
            <a:fillRect/>
          </a:stretch>
        </p:blipFill>
        <p:spPr>
          <a:xfrm>
            <a:off x="6272212" y="2071687"/>
            <a:ext cx="5243512" cy="3314700"/>
          </a:xfrm>
          <a:prstGeom prst="rect">
            <a:avLst/>
          </a:prstGeom>
          <a:noFill/>
          <a:ln>
            <a:noFill/>
          </a:ln>
        </p:spPr>
      </p:pic>
      <p:sp>
        <p:nvSpPr>
          <p:cNvPr id="587" name="Google Shape;587;p41"/>
          <p:cNvSpPr txBox="1"/>
          <p:nvPr/>
        </p:nvSpPr>
        <p:spPr>
          <a:xfrm>
            <a:off x="666750" y="2376487"/>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pic>
        <p:nvPicPr>
          <p:cNvPr id="589" name="Google Shape;589;p41" descr="image.png"/>
          <p:cNvPicPr preferRelativeResize="0"/>
          <p:nvPr/>
        </p:nvPicPr>
        <p:blipFill rotWithShape="1">
          <a:blip r:embed="rId4"/>
          <a:srcRect/>
          <a:stretch>
            <a:fillRect/>
          </a:stretch>
        </p:blipFill>
        <p:spPr>
          <a:xfrm>
            <a:off x="714375" y="2390775"/>
            <a:ext cx="219075" cy="200025"/>
          </a:xfrm>
          <a:prstGeom prst="rect">
            <a:avLst/>
          </a:prstGeom>
          <a:noFill/>
          <a:ln>
            <a:noFill/>
          </a:ln>
        </p:spPr>
      </p:pic>
      <p:pic>
        <p:nvPicPr>
          <p:cNvPr id="590" name="Google Shape;590;p41" descr="image.png"/>
          <p:cNvPicPr preferRelativeResize="0"/>
          <p:nvPr/>
        </p:nvPicPr>
        <p:blipFill rotWithShape="1">
          <a:blip r:embed="rId5"/>
          <a:srcRect/>
          <a:stretch>
            <a:fillRect/>
          </a:stretch>
        </p:blipFill>
        <p:spPr>
          <a:xfrm>
            <a:off x="666750" y="3205360"/>
            <a:ext cx="219075" cy="200025"/>
          </a:xfrm>
          <a:prstGeom prst="rect">
            <a:avLst/>
          </a:prstGeom>
          <a:noFill/>
          <a:ln>
            <a:noFill/>
          </a:ln>
        </p:spPr>
      </p:pic>
      <p:sp>
        <p:nvSpPr>
          <p:cNvPr id="591" name="Google Shape;591;p41"/>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3.3.3 &amp; 3.3.4. Sản phẩm &amp; Giỏ hàng</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592" name="Google Shape;592;p41"/>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pic>
        <p:nvPicPr>
          <p:cNvPr id="3" name="Picture 2"/>
          <p:cNvPicPr>
            <a:picLocks noChangeAspect="1"/>
          </p:cNvPicPr>
          <p:nvPr/>
        </p:nvPicPr>
        <p:blipFill>
          <a:blip r:embed="rId6"/>
          <a:stretch>
            <a:fillRect/>
          </a:stretch>
        </p:blipFill>
        <p:spPr>
          <a:xfrm>
            <a:off x="6145530" y="1261110"/>
            <a:ext cx="5896610" cy="53644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596" name="Shape 596"/>
        <p:cNvGrpSpPr/>
        <p:nvPr/>
      </p:nvGrpSpPr>
      <p:grpSpPr>
        <a:xfrm>
          <a:off x="0" y="0"/>
          <a:ext cx="0" cy="0"/>
          <a:chOff x="0" y="0"/>
          <a:chExt cx="0" cy="0"/>
        </a:xfrm>
      </p:grpSpPr>
      <p:pic>
        <p:nvPicPr>
          <p:cNvPr id="597" name="Google Shape;597;p42"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598" name="Google Shape;598;p42" descr="image.png"/>
          <p:cNvPicPr preferRelativeResize="0"/>
          <p:nvPr/>
        </p:nvPicPr>
        <p:blipFill rotWithShape="1">
          <a:blip r:embed="rId2"/>
          <a:srcRect/>
          <a:stretch>
            <a:fillRect/>
          </a:stretch>
        </p:blipFill>
        <p:spPr>
          <a:xfrm>
            <a:off x="666750" y="2823845"/>
            <a:ext cx="5262245" cy="2937510"/>
          </a:xfrm>
          <a:prstGeom prst="rect">
            <a:avLst/>
          </a:prstGeom>
          <a:noFill/>
          <a:ln>
            <a:noFill/>
          </a:ln>
        </p:spPr>
      </p:pic>
      <p:pic>
        <p:nvPicPr>
          <p:cNvPr id="599" name="Google Shape;599;p42" descr="image.png"/>
          <p:cNvPicPr preferRelativeResize="0"/>
          <p:nvPr/>
        </p:nvPicPr>
        <p:blipFill rotWithShape="1">
          <a:blip r:embed="rId3"/>
          <a:srcRect/>
          <a:stretch>
            <a:fillRect/>
          </a:stretch>
        </p:blipFill>
        <p:spPr>
          <a:xfrm>
            <a:off x="6262370" y="2823845"/>
            <a:ext cx="5262245" cy="2937510"/>
          </a:xfrm>
          <a:prstGeom prst="rect">
            <a:avLst/>
          </a:prstGeom>
          <a:noFill/>
          <a:ln>
            <a:noFill/>
          </a:ln>
        </p:spPr>
      </p:pic>
      <p:sp>
        <p:nvSpPr>
          <p:cNvPr id="600" name="Google Shape;600;p42"/>
          <p:cNvSpPr txBox="1"/>
          <p:nvPr/>
        </p:nvSpPr>
        <p:spPr>
          <a:xfrm>
            <a:off x="962025"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Khởi tạo &amp; Ghi nhận đơn</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601" name="Google Shape;601;p42"/>
          <p:cNvSpPr/>
          <p:nvPr/>
        </p:nvSpPr>
        <p:spPr>
          <a:xfrm>
            <a:off x="962025"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602" name="Google Shape;602;p42"/>
          <p:cNvSpPr txBox="1"/>
          <p:nvPr/>
        </p:nvSpPr>
        <p:spPr>
          <a:xfrm>
            <a:off x="962025" y="349091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Xác nhận giỏ hàng:</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Người dùng kiểm tra giỏ hàng và tiến hành nhập thông tin nhận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03" name="Google Shape;603;p42"/>
          <p:cNvSpPr txBox="1"/>
          <p:nvPr/>
        </p:nvSpPr>
        <p:spPr>
          <a:xfrm>
            <a:off x="962025" y="4279582"/>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Transaction an toàn:</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Khởi tạo $pdo-&gt;beginTransaction(), thực hiện lệnh INSERT thông tin chung vào bảng ORDERS.</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04" name="Google Shape;604;p42"/>
          <p:cNvSpPr txBox="1"/>
          <p:nvPr/>
        </p:nvSpPr>
        <p:spPr>
          <a:xfrm>
            <a:off x="6557962"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Lưu chi tiết &amp; Hoàn tất</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605" name="Google Shape;605;p42"/>
          <p:cNvSpPr/>
          <p:nvPr/>
        </p:nvSpPr>
        <p:spPr>
          <a:xfrm>
            <a:off x="6557962"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606" name="Google Shape;606;p42"/>
          <p:cNvSpPr txBox="1"/>
          <p:nvPr/>
        </p:nvSpPr>
        <p:spPr>
          <a:xfrm>
            <a:off x="6557962" y="3490912"/>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Lưu chi tiết:</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Trích xuất ID vừa tạo, thực thi vòng lặp ghi nhận danh sách sản phẩm vào ORDER_ITEMS.</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07" name="Google Shape;607;p42"/>
          <p:cNvSpPr txBox="1"/>
          <p:nvPr/>
        </p:nvSpPr>
        <p:spPr>
          <a:xfrm>
            <a:off x="6558597" y="4279582"/>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Đồng bộ kết quả:</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Tiến hành trừ tồn kho thực tế, gọi lệnh $pdo-&gt;commit() để kết thúc giao dịch và giải phóng Session giỏ hàng.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08" name="Google Shape;608;p42"/>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3.3.5. Tiến trình xử lý Đặt hàng</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609" name="Google Shape;609;p42"/>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613" name="Shape 613"/>
        <p:cNvGrpSpPr/>
        <p:nvPr/>
      </p:nvGrpSpPr>
      <p:grpSpPr>
        <a:xfrm>
          <a:off x="0" y="0"/>
          <a:ext cx="0" cy="0"/>
          <a:chOff x="0" y="0"/>
          <a:chExt cx="0" cy="0"/>
        </a:xfrm>
      </p:grpSpPr>
      <p:pic>
        <p:nvPicPr>
          <p:cNvPr id="614" name="Google Shape;614;p4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615" name="Google Shape;615;p43" descr="image.png"/>
          <p:cNvPicPr preferRelativeResize="0"/>
          <p:nvPr/>
        </p:nvPicPr>
        <p:blipFill rotWithShape="1">
          <a:blip r:embed="rId2"/>
          <a:srcRect/>
          <a:stretch>
            <a:fillRect/>
          </a:stretch>
        </p:blipFill>
        <p:spPr>
          <a:xfrm>
            <a:off x="6262687" y="2062162"/>
            <a:ext cx="5262562" cy="3333750"/>
          </a:xfrm>
          <a:prstGeom prst="rect">
            <a:avLst/>
          </a:prstGeom>
          <a:noFill/>
          <a:ln>
            <a:noFill/>
          </a:ln>
        </p:spPr>
      </p:pic>
      <p:sp>
        <p:nvSpPr>
          <p:cNvPr id="616" name="Google Shape;616;p43"/>
          <p:cNvSpPr txBox="1"/>
          <p:nvPr/>
        </p:nvSpPr>
        <p:spPr>
          <a:xfrm>
            <a:off x="714375" y="1898332"/>
            <a:ext cx="552569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Vận hành và tương tác nghiệp vụ CRUD</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617" name="Google Shape;617;p43"/>
          <p:cNvSpPr txBox="1"/>
          <p:nvPr/>
        </p:nvSpPr>
        <p:spPr>
          <a:xfrm>
            <a:off x="1047750" y="2376487"/>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Thêm mới (Create):</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Thiết lập form tải ảnh sản phẩm nước hoa lên máy chủ, lưu thông tin vào cơ sở dữ liệu.</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18" name="Google Shape;618;p43"/>
          <p:cNvSpPr txBox="1"/>
          <p:nvPr/>
        </p:nvSpPr>
        <p:spPr>
          <a:xfrm>
            <a:off x="1047750" y="2921198"/>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Cập nhật (Update):</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Cho phép sửa đổi thông tin về giá bán, dung tích, số lượng tồn kho của sản phẩm.</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19" name="Google Shape;619;p43"/>
          <p:cNvSpPr txBox="1"/>
          <p:nvPr/>
        </p:nvSpPr>
        <p:spPr>
          <a:xfrm>
            <a:off x="1047750" y="3465909"/>
            <a:ext cx="4881562" cy="6883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1C1613"/>
                </a:solidFill>
                <a:latin typeface="Times New Roman" panose="02020603050405020304" charset="0"/>
                <a:ea typeface="Plus Jakarta Sans SemiBold"/>
                <a:cs typeface="Times New Roman" panose="02020603050405020304" charset="0"/>
                <a:sym typeface="Plus Jakarta Sans SemiBold"/>
              </a:rPr>
              <a:t>Xóa (Delete):</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Cung cấp hộp thoại xác nhận an toàn trước khi thực thi lệnh DELETE.</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21" name="Google Shape;621;p43"/>
          <p:cNvSpPr txBox="1"/>
          <p:nvPr/>
        </p:nvSpPr>
        <p:spPr>
          <a:xfrm>
            <a:off x="666750" y="2376487"/>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622" name="Google Shape;622;p43"/>
          <p:cNvSpPr txBox="1"/>
          <p:nvPr/>
        </p:nvSpPr>
        <p:spPr>
          <a:xfrm>
            <a:off x="666750" y="2921198"/>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sp>
        <p:nvSpPr>
          <p:cNvPr id="623" name="Google Shape;623;p43"/>
          <p:cNvSpPr txBox="1"/>
          <p:nvPr/>
        </p:nvSpPr>
        <p:spPr>
          <a:xfrm>
            <a:off x="666750" y="3465909"/>
            <a:ext cx="95250" cy="34417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600" b="0" i="0" u="none" strike="noStrike" cap="none">
                <a:solidFill>
                  <a:srgbClr val="C5A880"/>
                </a:solidFill>
                <a:latin typeface="Times New Roman" panose="02020603050405020304" charset="0"/>
                <a:ea typeface="Plus Jakarta Sans"/>
                <a:cs typeface="Plus Jakarta Sans"/>
                <a:sym typeface="Plus Jakarta Sans"/>
              </a:rPr>
              <a:t>✦</a:t>
            </a:r>
            <a:endParaRPr lang="en-US" sz="1600" b="0" i="0" u="none" strike="noStrike" cap="none">
              <a:solidFill>
                <a:srgbClr val="C5A880"/>
              </a:solidFill>
              <a:latin typeface="Times New Roman" panose="02020603050405020304" charset="0"/>
              <a:ea typeface="Plus Jakarta Sans"/>
              <a:cs typeface="Plus Jakarta Sans"/>
              <a:sym typeface="Plus Jakarta Sans"/>
            </a:endParaRPr>
          </a:p>
        </p:txBody>
      </p:sp>
      <p:pic>
        <p:nvPicPr>
          <p:cNvPr id="624" name="Google Shape;624;p43" descr="image.png"/>
          <p:cNvPicPr preferRelativeResize="0"/>
          <p:nvPr/>
        </p:nvPicPr>
        <p:blipFill rotWithShape="1">
          <a:blip r:embed="rId3"/>
          <a:srcRect/>
          <a:stretch>
            <a:fillRect/>
          </a:stretch>
        </p:blipFill>
        <p:spPr>
          <a:xfrm>
            <a:off x="714375" y="2390775"/>
            <a:ext cx="171450" cy="200025"/>
          </a:xfrm>
          <a:prstGeom prst="rect">
            <a:avLst/>
          </a:prstGeom>
          <a:noFill/>
          <a:ln>
            <a:noFill/>
          </a:ln>
        </p:spPr>
      </p:pic>
      <p:pic>
        <p:nvPicPr>
          <p:cNvPr id="625" name="Google Shape;625;p43" descr="image.png"/>
          <p:cNvPicPr preferRelativeResize="0"/>
          <p:nvPr/>
        </p:nvPicPr>
        <p:blipFill rotWithShape="1">
          <a:blip r:embed="rId4"/>
          <a:srcRect/>
          <a:stretch>
            <a:fillRect/>
          </a:stretch>
        </p:blipFill>
        <p:spPr>
          <a:xfrm>
            <a:off x="714375" y="2935485"/>
            <a:ext cx="190500" cy="200025"/>
          </a:xfrm>
          <a:prstGeom prst="rect">
            <a:avLst/>
          </a:prstGeom>
          <a:noFill/>
          <a:ln>
            <a:noFill/>
          </a:ln>
        </p:spPr>
      </p:pic>
      <p:pic>
        <p:nvPicPr>
          <p:cNvPr id="626" name="Google Shape;626;p43" descr="image.png"/>
          <p:cNvPicPr preferRelativeResize="0"/>
          <p:nvPr/>
        </p:nvPicPr>
        <p:blipFill rotWithShape="1">
          <a:blip r:embed="rId5"/>
          <a:srcRect/>
          <a:stretch>
            <a:fillRect/>
          </a:stretch>
        </p:blipFill>
        <p:spPr>
          <a:xfrm>
            <a:off x="714375" y="3480196"/>
            <a:ext cx="171450" cy="200025"/>
          </a:xfrm>
          <a:prstGeom prst="rect">
            <a:avLst/>
          </a:prstGeom>
          <a:noFill/>
          <a:ln>
            <a:noFill/>
          </a:ln>
        </p:spPr>
      </p:pic>
      <p:sp>
        <p:nvSpPr>
          <p:cNvPr id="627" name="Google Shape;627;p43"/>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3.3.6. Chức năng quản lý Sản phẩm</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628" name="Google Shape;628;p43"/>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pic>
        <p:nvPicPr>
          <p:cNvPr id="2" name="Picture 1"/>
          <p:cNvPicPr>
            <a:picLocks noChangeAspect="1"/>
          </p:cNvPicPr>
          <p:nvPr/>
        </p:nvPicPr>
        <p:blipFill>
          <a:blip r:embed="rId6"/>
          <a:stretch>
            <a:fillRect/>
          </a:stretch>
        </p:blipFill>
        <p:spPr>
          <a:xfrm>
            <a:off x="5928995" y="1029970"/>
            <a:ext cx="5936615" cy="545528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632" name="Shape 632"/>
        <p:cNvGrpSpPr/>
        <p:nvPr/>
      </p:nvGrpSpPr>
      <p:grpSpPr>
        <a:xfrm>
          <a:off x="0" y="0"/>
          <a:ext cx="0" cy="0"/>
          <a:chOff x="0" y="0"/>
          <a:chExt cx="0" cy="0"/>
        </a:xfrm>
      </p:grpSpPr>
      <p:pic>
        <p:nvPicPr>
          <p:cNvPr id="633" name="Google Shape;633;p4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634" name="Google Shape;634;p44" descr="image.png"/>
          <p:cNvPicPr preferRelativeResize="0"/>
          <p:nvPr/>
        </p:nvPicPr>
        <p:blipFill rotWithShape="1">
          <a:blip r:embed="rId2"/>
          <a:srcRect/>
          <a:stretch>
            <a:fillRect/>
          </a:stretch>
        </p:blipFill>
        <p:spPr>
          <a:xfrm>
            <a:off x="666750" y="2971800"/>
            <a:ext cx="5262245" cy="2411095"/>
          </a:xfrm>
          <a:prstGeom prst="rect">
            <a:avLst/>
          </a:prstGeom>
          <a:noFill/>
          <a:ln>
            <a:noFill/>
          </a:ln>
        </p:spPr>
      </p:pic>
      <p:pic>
        <p:nvPicPr>
          <p:cNvPr id="635" name="Google Shape;635;p44" descr="image.png"/>
          <p:cNvPicPr preferRelativeResize="0"/>
          <p:nvPr/>
        </p:nvPicPr>
        <p:blipFill rotWithShape="1">
          <a:blip r:embed="rId3"/>
          <a:srcRect/>
          <a:stretch>
            <a:fillRect/>
          </a:stretch>
        </p:blipFill>
        <p:spPr>
          <a:xfrm>
            <a:off x="6262370" y="2971800"/>
            <a:ext cx="5262245" cy="2227580"/>
          </a:xfrm>
          <a:prstGeom prst="rect">
            <a:avLst/>
          </a:prstGeom>
          <a:noFill/>
          <a:ln>
            <a:noFill/>
          </a:ln>
        </p:spPr>
      </p:pic>
      <p:sp>
        <p:nvSpPr>
          <p:cNvPr id="636" name="Google Shape;636;p44"/>
          <p:cNvSpPr txBox="1"/>
          <p:nvPr/>
        </p:nvSpPr>
        <p:spPr>
          <a:xfrm>
            <a:off x="962025"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3.3.7 Quản lý đơn hàng</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637" name="Google Shape;637;p44"/>
          <p:cNvSpPr/>
          <p:nvPr/>
        </p:nvSpPr>
        <p:spPr>
          <a:xfrm>
            <a:off x="962025"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638" name="Google Shape;638;p44"/>
          <p:cNvSpPr txBox="1"/>
          <p:nvPr/>
        </p:nvSpPr>
        <p:spPr>
          <a:xfrm>
            <a:off x="962025" y="3638550"/>
            <a:ext cx="4672012" cy="14770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Hỗ trợ Admin theo dõi thông tin đơn hàng thuận tiện. Thực hiện trực tiếp cập nhật trạng thái đơn hàng (Mới, Đang xử lý, Đã hoàn thành) và trạng thái thanh toán hóa đơn nhanh chóng.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39" name="Google Shape;639;p44"/>
          <p:cNvSpPr txBox="1"/>
          <p:nvPr/>
        </p:nvSpPr>
        <p:spPr>
          <a:xfrm>
            <a:off x="6557962"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3.3.8 Thống kê doanh thu</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640" name="Google Shape;640;p44"/>
          <p:cNvSpPr/>
          <p:nvPr/>
        </p:nvSpPr>
        <p:spPr>
          <a:xfrm>
            <a:off x="6557962"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641" name="Google Shape;641;p44"/>
          <p:cNvSpPr txBox="1"/>
          <p:nvPr/>
        </p:nvSpPr>
        <p:spPr>
          <a:xfrm>
            <a:off x="6557962" y="3638550"/>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Hệ thống tự động lọc các hóa đơn thành công có thuộc tính status = 'completed'. Thực thi hàm SUM() trong MySQL để tính toán và xuất báo cáo tài chính chính xác.</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42" name="Google Shape;642;p44"/>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Quản lý Đơn hàng &amp; Doanh thu</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643" name="Google Shape;643;p44"/>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647" name="Shape 647"/>
        <p:cNvGrpSpPr/>
        <p:nvPr/>
      </p:nvGrpSpPr>
      <p:grpSpPr>
        <a:xfrm>
          <a:off x="0" y="0"/>
          <a:ext cx="0" cy="0"/>
          <a:chOff x="0" y="0"/>
          <a:chExt cx="0" cy="0"/>
        </a:xfrm>
      </p:grpSpPr>
      <p:pic>
        <p:nvPicPr>
          <p:cNvPr id="648" name="Google Shape;648;p4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649" name="Google Shape;649;p45" descr="image.png"/>
          <p:cNvPicPr preferRelativeResize="0"/>
          <p:nvPr/>
        </p:nvPicPr>
        <p:blipFill rotWithShape="1">
          <a:blip r:embed="rId2"/>
          <a:srcRect/>
          <a:stretch>
            <a:fillRect/>
          </a:stretch>
        </p:blipFill>
        <p:spPr>
          <a:xfrm>
            <a:off x="666750" y="2832496"/>
            <a:ext cx="5262562" cy="1793081"/>
          </a:xfrm>
          <a:prstGeom prst="rect">
            <a:avLst/>
          </a:prstGeom>
          <a:noFill/>
          <a:ln>
            <a:noFill/>
          </a:ln>
        </p:spPr>
      </p:pic>
      <p:pic>
        <p:nvPicPr>
          <p:cNvPr id="650" name="Google Shape;650;p45" descr="image.png"/>
          <p:cNvPicPr preferRelativeResize="0"/>
          <p:nvPr/>
        </p:nvPicPr>
        <p:blipFill rotWithShape="1">
          <a:blip r:embed="rId3"/>
          <a:srcRect/>
          <a:stretch>
            <a:fillRect/>
          </a:stretch>
        </p:blipFill>
        <p:spPr>
          <a:xfrm>
            <a:off x="6262687" y="2832496"/>
            <a:ext cx="5262562" cy="1793081"/>
          </a:xfrm>
          <a:prstGeom prst="rect">
            <a:avLst/>
          </a:prstGeom>
          <a:noFill/>
          <a:ln>
            <a:noFill/>
          </a:ln>
        </p:spPr>
      </p:pic>
      <p:sp>
        <p:nvSpPr>
          <p:cNvPr id="651" name="Google Shape;651;p45"/>
          <p:cNvSpPr txBox="1"/>
          <p:nvPr/>
        </p:nvSpPr>
        <p:spPr>
          <a:xfrm>
            <a:off x="962025" y="3080146"/>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Thư mục tài nguyên chính</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652" name="Google Shape;652;p45"/>
          <p:cNvSpPr/>
          <p:nvPr/>
        </p:nvSpPr>
        <p:spPr>
          <a:xfrm>
            <a:off x="962025" y="3375421"/>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653" name="Google Shape;653;p45"/>
          <p:cNvSpPr txBox="1"/>
          <p:nvPr/>
        </p:nvSpPr>
        <p:spPr>
          <a:xfrm>
            <a:off x="962025" y="3518296"/>
            <a:ext cx="1233487" cy="1428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0" b="1" i="0" u="none" strike="noStrike" cap="none">
                <a:solidFill>
                  <a:srgbClr val="C5A880"/>
                </a:solidFill>
                <a:latin typeface="Times New Roman" panose="02020603050405020304" charset="0"/>
                <a:ea typeface="Plus Jakarta Sans"/>
                <a:cs typeface="Times New Roman" panose="02020603050405020304" charset="0"/>
                <a:sym typeface="Plus Jakarta Sans"/>
              </a:rPr>
              <a:t>NUOCHOATMHSQL/</a:t>
            </a:r>
            <a:endParaRPr lang="en-US" sz="1010" b="1" i="0" u="none" strike="noStrike" cap="none">
              <a:solidFill>
                <a:srgbClr val="C5A880"/>
              </a:solidFill>
              <a:latin typeface="Times New Roman" panose="02020603050405020304" charset="0"/>
              <a:ea typeface="Plus Jakarta Sans"/>
              <a:cs typeface="Times New Roman" panose="02020603050405020304" charset="0"/>
              <a:sym typeface="Plus Jakarta Sans"/>
            </a:endParaRPr>
          </a:p>
        </p:txBody>
      </p:sp>
      <p:sp>
        <p:nvSpPr>
          <p:cNvPr id="654" name="Google Shape;654;p45"/>
          <p:cNvSpPr txBox="1"/>
          <p:nvPr/>
        </p:nvSpPr>
        <p:spPr>
          <a:xfrm>
            <a:off x="1412081" y="3692128"/>
            <a:ext cx="450056"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assets/</a:t>
            </a:r>
            <a:endPar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55" name="Google Shape;655;p45"/>
          <p:cNvSpPr txBox="1"/>
          <p:nvPr/>
        </p:nvSpPr>
        <p:spPr>
          <a:xfrm>
            <a:off x="1412081" y="3863578"/>
            <a:ext cx="578643"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includes/</a:t>
            </a:r>
            <a:endPar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56" name="Google Shape;656;p45"/>
          <p:cNvSpPr txBox="1"/>
          <p:nvPr/>
        </p:nvSpPr>
        <p:spPr>
          <a:xfrm>
            <a:off x="1412081" y="4035028"/>
            <a:ext cx="51435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uploads/</a:t>
            </a:r>
            <a:endPar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57" name="Google Shape;657;p45"/>
          <p:cNvSpPr txBox="1"/>
          <p:nvPr/>
        </p:nvSpPr>
        <p:spPr>
          <a:xfrm>
            <a:off x="1412081" y="4206478"/>
            <a:ext cx="642937"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config.php</a:t>
            </a:r>
            <a:endPar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58" name="Google Shape;658;p45"/>
          <p:cNvSpPr txBox="1"/>
          <p:nvPr/>
        </p:nvSpPr>
        <p:spPr>
          <a:xfrm>
            <a:off x="6557962" y="3080146"/>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Các tệp chức năng lõi</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659" name="Google Shape;659;p45"/>
          <p:cNvSpPr/>
          <p:nvPr/>
        </p:nvSpPr>
        <p:spPr>
          <a:xfrm>
            <a:off x="6557962" y="3375421"/>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660" name="Google Shape;660;p45"/>
          <p:cNvSpPr txBox="1"/>
          <p:nvPr/>
        </p:nvSpPr>
        <p:spPr>
          <a:xfrm>
            <a:off x="7008018" y="3499246"/>
            <a:ext cx="707231"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admin_*.php</a:t>
            </a:r>
            <a:endPar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61" name="Google Shape;661;p45"/>
          <p:cNvSpPr txBox="1"/>
          <p:nvPr/>
        </p:nvSpPr>
        <p:spPr>
          <a:xfrm>
            <a:off x="7008018" y="3670696"/>
            <a:ext cx="964406"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index, cart.php</a:t>
            </a:r>
            <a:endPar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62" name="Google Shape;662;p45"/>
          <p:cNvSpPr txBox="1"/>
          <p:nvPr/>
        </p:nvSpPr>
        <p:spPr>
          <a:xfrm>
            <a:off x="7008018" y="3842146"/>
            <a:ext cx="964406"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login, register</a:t>
            </a:r>
            <a:endPar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63" name="Google Shape;663;p45"/>
          <p:cNvSpPr txBox="1"/>
          <p:nvPr/>
        </p:nvSpPr>
        <p:spPr>
          <a:xfrm>
            <a:off x="7008018" y="4013596"/>
            <a:ext cx="964406"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rPr>
              <a:t>place_order.php</a:t>
            </a:r>
            <a:endParaRPr lang="en-US" sz="1010" b="1" i="0" u="none" strike="noStrike" cap="none">
              <a:solidFill>
                <a:srgbClr val="000000"/>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64" name="Google Shape;664;p45"/>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3.4. Cấu trúc thư mục chương trình</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665" name="Google Shape;665;p45"/>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669" name="Shape 669"/>
        <p:cNvGrpSpPr/>
        <p:nvPr/>
      </p:nvGrpSpPr>
      <p:grpSpPr>
        <a:xfrm>
          <a:off x="0" y="0"/>
          <a:ext cx="0" cy="0"/>
          <a:chOff x="0" y="0"/>
          <a:chExt cx="0" cy="0"/>
        </a:xfrm>
      </p:grpSpPr>
      <p:pic>
        <p:nvPicPr>
          <p:cNvPr id="670" name="Google Shape;670;p4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671" name="Google Shape;671;p46" descr="image.png"/>
          <p:cNvPicPr preferRelativeResize="0"/>
          <p:nvPr/>
        </p:nvPicPr>
        <p:blipFill rotWithShape="1">
          <a:blip r:embed="rId2"/>
          <a:srcRect/>
          <a:stretch>
            <a:fillRect/>
          </a:stretch>
        </p:blipFill>
        <p:spPr>
          <a:xfrm>
            <a:off x="666750" y="2823845"/>
            <a:ext cx="5262245" cy="2917190"/>
          </a:xfrm>
          <a:prstGeom prst="rect">
            <a:avLst/>
          </a:prstGeom>
          <a:noFill/>
          <a:ln>
            <a:noFill/>
          </a:ln>
        </p:spPr>
      </p:pic>
      <p:pic>
        <p:nvPicPr>
          <p:cNvPr id="672" name="Google Shape;672;p46" descr="image.png"/>
          <p:cNvPicPr preferRelativeResize="0"/>
          <p:nvPr/>
        </p:nvPicPr>
        <p:blipFill rotWithShape="1">
          <a:blip r:embed="rId3"/>
          <a:srcRect/>
          <a:stretch>
            <a:fillRect/>
          </a:stretch>
        </p:blipFill>
        <p:spPr>
          <a:xfrm>
            <a:off x="6262370" y="2823845"/>
            <a:ext cx="5262245" cy="2917190"/>
          </a:xfrm>
          <a:prstGeom prst="rect">
            <a:avLst/>
          </a:prstGeom>
          <a:noFill/>
          <a:ln>
            <a:noFill/>
          </a:ln>
        </p:spPr>
      </p:pic>
      <p:sp>
        <p:nvSpPr>
          <p:cNvPr id="673" name="Google Shape;673;p46"/>
          <p:cNvSpPr txBox="1"/>
          <p:nvPr/>
        </p:nvSpPr>
        <p:spPr>
          <a:xfrm>
            <a:off x="962025"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Chống lỗi Injection &amp; Hack</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674" name="Google Shape;674;p46"/>
          <p:cNvSpPr/>
          <p:nvPr/>
        </p:nvSpPr>
        <p:spPr>
          <a:xfrm>
            <a:off x="962025"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675" name="Google Shape;675;p46"/>
          <p:cNvSpPr txBox="1"/>
          <p:nvPr/>
        </p:nvSpPr>
        <p:spPr>
          <a:xfrm>
            <a:off x="962025" y="3490912"/>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PDO Prepared Statements:</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Thực hiện bóc tách riêng biệt cấu trúc truy vấn SQL và tham số dữ liệu nhập vào để loại bỏ triệt để nguy cơ SQL Injection.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76" name="Google Shape;676;p46"/>
          <p:cNvSpPr txBox="1"/>
          <p:nvPr/>
        </p:nvSpPr>
        <p:spPr>
          <a:xfrm>
            <a:off x="962025" y="4648517"/>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Mã hóa mật khẩu:</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Băm bảo mật mật khẩu trước khi ghi nhận vào cơ sở dữ liệu.</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77" name="Google Shape;677;p46"/>
          <p:cNvSpPr txBox="1"/>
          <p:nvPr/>
        </p:nvSpPr>
        <p:spPr>
          <a:xfrm>
            <a:off x="6557962" y="3071812"/>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Xác thực &amp; Chặn truy cập</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678" name="Google Shape;678;p46"/>
          <p:cNvSpPr/>
          <p:nvPr/>
        </p:nvSpPr>
        <p:spPr>
          <a:xfrm>
            <a:off x="6557962" y="3367087"/>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679" name="Google Shape;679;p46"/>
          <p:cNvSpPr txBox="1"/>
          <p:nvPr/>
        </p:nvSpPr>
        <p:spPr>
          <a:xfrm>
            <a:off x="6557962" y="3490912"/>
            <a:ext cx="4672012" cy="110744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a:solidFill>
                  <a:srgbClr val="4A423E"/>
                </a:solidFill>
                <a:latin typeface="Times New Roman" panose="02020603050405020304" charset="0"/>
                <a:ea typeface="Plus Jakarta Sans"/>
                <a:cs typeface="Times New Roman" panose="02020603050405020304" charset="0"/>
                <a:sym typeface="Plus Jakarta Sans"/>
              </a:rPr>
              <a:t>Middleware Auth:</a:t>
            </a: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 Đặt hàm xác thực require_login() và require_admin() tại phần đầu trang của các tệp tin hệ thống.</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80" name="Google Shape;680;p46"/>
          <p:cNvSpPr txBox="1"/>
          <p:nvPr/>
        </p:nvSpPr>
        <p:spPr>
          <a:xfrm>
            <a:off x="6557962" y="4512627"/>
            <a:ext cx="4672012" cy="7385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Chặn đứng hoàn toàn mọi hành vi cố tình dò đường link truy cập trái phép vào trang Admin.</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81" name="Google Shape;681;p46"/>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3.5. Biện pháp Bảo mật hệ thống</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682" name="Google Shape;682;p46"/>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686" name="Shape 686"/>
        <p:cNvGrpSpPr/>
        <p:nvPr/>
      </p:nvGrpSpPr>
      <p:grpSpPr>
        <a:xfrm>
          <a:off x="0" y="0"/>
          <a:ext cx="0" cy="0"/>
          <a:chOff x="0" y="0"/>
          <a:chExt cx="0" cy="0"/>
        </a:xfrm>
      </p:grpSpPr>
      <p:pic>
        <p:nvPicPr>
          <p:cNvPr id="687" name="Google Shape;687;p4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688" name="Google Shape;688;p47" descr="image.png"/>
          <p:cNvPicPr preferRelativeResize="0"/>
          <p:nvPr/>
        </p:nvPicPr>
        <p:blipFill rotWithShape="1">
          <a:blip r:embed="rId2"/>
          <a:srcRect/>
          <a:stretch>
            <a:fillRect/>
          </a:stretch>
        </p:blipFill>
        <p:spPr>
          <a:xfrm>
            <a:off x="666750" y="2971800"/>
            <a:ext cx="5262245" cy="2506980"/>
          </a:xfrm>
          <a:prstGeom prst="rect">
            <a:avLst/>
          </a:prstGeom>
          <a:noFill/>
          <a:ln>
            <a:noFill/>
          </a:ln>
        </p:spPr>
      </p:pic>
      <p:pic>
        <p:nvPicPr>
          <p:cNvPr id="689" name="Google Shape;689;p47" descr="image.png"/>
          <p:cNvPicPr preferRelativeResize="0"/>
          <p:nvPr/>
        </p:nvPicPr>
        <p:blipFill rotWithShape="1">
          <a:blip r:embed="rId3"/>
          <a:srcRect/>
          <a:stretch>
            <a:fillRect/>
          </a:stretch>
        </p:blipFill>
        <p:spPr>
          <a:xfrm>
            <a:off x="6262370" y="2971800"/>
            <a:ext cx="5262245" cy="2506980"/>
          </a:xfrm>
          <a:prstGeom prst="rect">
            <a:avLst/>
          </a:prstGeom>
          <a:noFill/>
          <a:ln>
            <a:noFill/>
          </a:ln>
        </p:spPr>
      </p:pic>
      <p:sp>
        <p:nvSpPr>
          <p:cNvPr id="690" name="Google Shape;690;p47"/>
          <p:cNvSpPr txBox="1"/>
          <p:nvPr/>
        </p:nvSpPr>
        <p:spPr>
          <a:xfrm>
            <a:off x="962025"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Database Transaction</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691" name="Google Shape;691;p47"/>
          <p:cNvSpPr/>
          <p:nvPr/>
        </p:nvSpPr>
        <p:spPr>
          <a:xfrm>
            <a:off x="962025"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692" name="Google Shape;692;p47"/>
          <p:cNvSpPr txBox="1"/>
          <p:nvPr/>
        </p:nvSpPr>
        <p:spPr>
          <a:xfrm>
            <a:off x="962025" y="3638550"/>
            <a:ext cx="4672012" cy="14770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Gom nhóm các câu lệnh SQL ghi đơn hàng và chi tiết hóa đơn vào một giao dịch duy nhất. Nếu xảy ra bất kỳ sự cố kết nối nào ở giữa chừng, toàn bộ các lệnh ghi trước đó sẽ lập tức được thu hồi bằng rollBack().</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93" name="Google Shape;693;p47"/>
          <p:cNvSpPr txBox="1"/>
          <p:nvPr/>
        </p:nvSpPr>
        <p:spPr>
          <a:xfrm>
            <a:off x="6557962"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Ép kiểu dữ liệu nghiêm ngặt</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694" name="Google Shape;694;p47"/>
          <p:cNvSpPr/>
          <p:nvPr/>
        </p:nvSpPr>
        <p:spPr>
          <a:xfrm>
            <a:off x="6557962"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695" name="Google Shape;695;p47"/>
          <p:cNvSpPr txBox="1"/>
          <p:nvPr/>
        </p:nvSpPr>
        <p:spPr>
          <a:xfrm>
            <a:off x="6557962" y="3638550"/>
            <a:ext cx="4672012" cy="14770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Mọi tham số đầu vào gửi qua phương thức POST/GET liên quan đến tài chính, số lượng đều được ép kiểu dữ liệu nghiêm ngặt bằng cú pháp (int), (float) để tránh các lỗi toán học nguy hiểm.</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696" name="Google Shape;696;p47"/>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3.6. Toàn vẹn dữ liệu nghiêm ngặt</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697" name="Google Shape;697;p47"/>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701" name="Shape 701"/>
        <p:cNvGrpSpPr/>
        <p:nvPr/>
      </p:nvGrpSpPr>
      <p:grpSpPr>
        <a:xfrm>
          <a:off x="0" y="0"/>
          <a:ext cx="0" cy="0"/>
          <a:chOff x="0" y="0"/>
          <a:chExt cx="0" cy="0"/>
        </a:xfrm>
      </p:grpSpPr>
      <p:pic>
        <p:nvPicPr>
          <p:cNvPr id="702" name="Google Shape;702;p4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703" name="Google Shape;703;p48" descr="image.png"/>
          <p:cNvPicPr preferRelativeResize="0"/>
          <p:nvPr/>
        </p:nvPicPr>
        <p:blipFill rotWithShape="1">
          <a:blip r:embed="rId2"/>
          <a:srcRect/>
          <a:stretch>
            <a:fillRect/>
          </a:stretch>
        </p:blipFill>
        <p:spPr>
          <a:xfrm>
            <a:off x="666750" y="2971800"/>
            <a:ext cx="5262245" cy="2353310"/>
          </a:xfrm>
          <a:prstGeom prst="rect">
            <a:avLst/>
          </a:prstGeom>
          <a:noFill/>
          <a:ln>
            <a:noFill/>
          </a:ln>
        </p:spPr>
      </p:pic>
      <p:pic>
        <p:nvPicPr>
          <p:cNvPr id="704" name="Google Shape;704;p48" descr="image.png"/>
          <p:cNvPicPr preferRelativeResize="0"/>
          <p:nvPr/>
        </p:nvPicPr>
        <p:blipFill rotWithShape="1">
          <a:blip r:embed="rId3"/>
          <a:srcRect/>
          <a:stretch>
            <a:fillRect/>
          </a:stretch>
        </p:blipFill>
        <p:spPr>
          <a:xfrm>
            <a:off x="6262370" y="2971800"/>
            <a:ext cx="5262245" cy="2353310"/>
          </a:xfrm>
          <a:prstGeom prst="rect">
            <a:avLst/>
          </a:prstGeom>
          <a:noFill/>
          <a:ln>
            <a:noFill/>
          </a:ln>
        </p:spPr>
      </p:pic>
      <p:sp>
        <p:nvSpPr>
          <p:cNvPr id="705" name="Google Shape;705;p48"/>
          <p:cNvSpPr txBox="1"/>
          <p:nvPr/>
        </p:nvSpPr>
        <p:spPr>
          <a:xfrm>
            <a:off x="962025" y="3219450"/>
            <a:ext cx="4905613"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Quy tắc tính toán tự động</a:t>
            </a:r>
            <a:endParaRPr lang="en-US" sz="24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706" name="Google Shape;706;p48"/>
          <p:cNvSpPr/>
          <p:nvPr/>
        </p:nvSpPr>
        <p:spPr>
          <a:xfrm>
            <a:off x="962025"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707" name="Google Shape;707;p48"/>
          <p:cNvSpPr txBox="1"/>
          <p:nvPr/>
        </p:nvSpPr>
        <p:spPr>
          <a:xfrm>
            <a:off x="962025" y="3638550"/>
            <a:ext cx="4672012" cy="14770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Tích hợp các logic nghiệp vụ thông minh cho quy trình mua sắm: Áp dụng chương trình ưu đãi chiết khấu trực tiếp 5% khi khách hàng đặt mua từ 3 sản phẩm trở lên, miễn phí vận chuyển cho hóa đơn từ 500.000đ.</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708" name="Google Shape;708;p48"/>
          <p:cNvSpPr txBox="1"/>
          <p:nvPr/>
        </p:nvSpPr>
        <p:spPr>
          <a:xfrm>
            <a:off x="6557962" y="3268980"/>
            <a:ext cx="4905613" cy="24574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rPr>
              <a:t>Tối ưu hóa trải nghiệm UI/UX</a:t>
            </a:r>
            <a:endParaRPr lang="en-US" sz="1600" b="0" i="0" u="none" strike="noStrike" cap="none">
              <a:solidFill>
                <a:srgbClr val="8C7355"/>
              </a:solidFill>
              <a:latin typeface="Times New Roman" panose="02020603050405020304" charset="0"/>
              <a:ea typeface="Playfair Display SemiBold"/>
              <a:cs typeface="Times New Roman" panose="02020603050405020304" charset="0"/>
              <a:sym typeface="Playfair Display SemiBold"/>
            </a:endParaRPr>
          </a:p>
        </p:txBody>
      </p:sp>
      <p:sp>
        <p:nvSpPr>
          <p:cNvPr id="709" name="Google Shape;709;p48"/>
          <p:cNvSpPr/>
          <p:nvPr/>
        </p:nvSpPr>
        <p:spPr>
          <a:xfrm>
            <a:off x="6557962" y="3514725"/>
            <a:ext cx="4672012" cy="9525"/>
          </a:xfrm>
          <a:prstGeom prst="rect">
            <a:avLst/>
          </a:prstGeom>
          <a:solidFill>
            <a:srgbClr val="FAF6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710" name="Google Shape;710;p48"/>
          <p:cNvSpPr txBox="1"/>
          <p:nvPr/>
        </p:nvSpPr>
        <p:spPr>
          <a:xfrm>
            <a:off x="6557962" y="3638550"/>
            <a:ext cx="4672012" cy="14770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rPr>
              <a:t>Áp dụng hệ thống thông báo trạng thái nhanh Flash Messages trực quan giúp người dùng dễ dàng theo dõi. Tổ chức mã nguồn phân tách độc lập (DRY) nâng cao tốc độ tải trang tối đa.</a:t>
            </a:r>
            <a:endParaRPr lang="en-US" sz="1600" b="0" i="0" u="none" strike="noStrike" cap="none">
              <a:solidFill>
                <a:srgbClr val="4A423E"/>
              </a:solidFill>
              <a:latin typeface="Times New Roman" panose="02020603050405020304" charset="0"/>
              <a:ea typeface="Plus Jakarta Sans"/>
              <a:cs typeface="Times New Roman" panose="02020603050405020304" charset="0"/>
              <a:sym typeface="Plus Jakarta Sans"/>
            </a:endParaRPr>
          </a:p>
        </p:txBody>
      </p:sp>
      <p:sp>
        <p:nvSpPr>
          <p:cNvPr id="711" name="Google Shape;711;p48"/>
          <p:cNvSpPr txBox="1"/>
          <p:nvPr/>
        </p:nvSpPr>
        <p:spPr>
          <a:xfrm>
            <a:off x="809625" y="476250"/>
            <a:ext cx="11251406"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rPr>
              <a:t>3.7 &amp; 3.8. Business Logic &amp; UX/UI</a:t>
            </a:r>
            <a:endParaRPr lang="en-US" sz="3600" b="1" i="0" u="none" strike="noStrike" cap="none">
              <a:solidFill>
                <a:srgbClr val="1C1613"/>
              </a:solidFill>
              <a:latin typeface="Times New Roman" panose="02020603050405020304" charset="0"/>
              <a:ea typeface="Playfair Display"/>
              <a:cs typeface="Times New Roman" panose="02020603050405020304" charset="0"/>
              <a:sym typeface="Playfair Display"/>
            </a:endParaRPr>
          </a:p>
        </p:txBody>
      </p:sp>
      <p:sp>
        <p:nvSpPr>
          <p:cNvPr id="712" name="Google Shape;712;p48"/>
          <p:cNvSpPr/>
          <p:nvPr/>
        </p:nvSpPr>
        <p:spPr>
          <a:xfrm>
            <a:off x="666750" y="476250"/>
            <a:ext cx="47625" cy="361950"/>
          </a:xfrm>
          <a:prstGeom prst="rect">
            <a:avLst/>
          </a:prstGeom>
          <a:solidFill>
            <a:srgbClr val="C5A8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716" name="Shape 716"/>
        <p:cNvGrpSpPr/>
        <p:nvPr/>
      </p:nvGrpSpPr>
      <p:grpSpPr>
        <a:xfrm>
          <a:off x="0" y="0"/>
          <a:ext cx="0" cy="0"/>
          <a:chOff x="0" y="0"/>
          <a:chExt cx="0" cy="0"/>
        </a:xfrm>
      </p:grpSpPr>
      <p:pic>
        <p:nvPicPr>
          <p:cNvPr id="717" name="Google Shape;717;p49"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718" name="Google Shape;718;p49" descr="image.png"/>
          <p:cNvPicPr preferRelativeResize="0"/>
          <p:nvPr/>
        </p:nvPicPr>
        <p:blipFill rotWithShape="1">
          <a:blip r:embed="rId2"/>
          <a:srcRect/>
          <a:stretch>
            <a:fillRect/>
          </a:stretch>
        </p:blipFill>
        <p:spPr>
          <a:xfrm>
            <a:off x="4177307" y="3852862"/>
            <a:ext cx="3837384" cy="409575"/>
          </a:xfrm>
          <a:prstGeom prst="rect">
            <a:avLst/>
          </a:prstGeom>
          <a:noFill/>
          <a:ln>
            <a:noFill/>
          </a:ln>
        </p:spPr>
      </p:pic>
      <p:sp>
        <p:nvSpPr>
          <p:cNvPr id="719" name="Google Shape;719;p49"/>
          <p:cNvSpPr txBox="1"/>
          <p:nvPr/>
        </p:nvSpPr>
        <p:spPr>
          <a:xfrm>
            <a:off x="395287" y="2586037"/>
            <a:ext cx="11401425" cy="67691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400" b="1" i="0" u="none" strike="noStrike" cap="none">
                <a:solidFill>
                  <a:srgbClr val="1C1613"/>
                </a:solidFill>
                <a:latin typeface="Playfair Display"/>
                <a:ea typeface="Playfair Display"/>
                <a:cs typeface="Playfair Display"/>
                <a:sym typeface="Playfair Display"/>
              </a:rPr>
              <a:t>CÂU HỎI &amp; THẢO LUẬN</a:t>
            </a:r>
            <a:endParaRPr lang="en-US" sz="4400" b="1" i="0" u="none" strike="noStrike" cap="none">
              <a:solidFill>
                <a:srgbClr val="1C1613"/>
              </a:solidFill>
              <a:latin typeface="Playfair Display"/>
              <a:ea typeface="Playfair Display"/>
              <a:cs typeface="Playfair Display"/>
              <a:sym typeface="Playfair Display"/>
            </a:endParaRPr>
          </a:p>
        </p:txBody>
      </p:sp>
      <p:sp>
        <p:nvSpPr>
          <p:cNvPr id="720" name="Google Shape;720;p49"/>
          <p:cNvSpPr txBox="1"/>
          <p:nvPr/>
        </p:nvSpPr>
        <p:spPr>
          <a:xfrm>
            <a:off x="666750" y="3309937"/>
            <a:ext cx="10858500" cy="46164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0" i="0" u="none" strike="noStrike" cap="none">
                <a:solidFill>
                  <a:srgbClr val="8C7355"/>
                </a:solidFill>
                <a:latin typeface="Times New Roman" panose="02020603050405020304" charset="0"/>
                <a:ea typeface="Plus Jakarta Sans"/>
                <a:cs typeface="Times New Roman" panose="02020603050405020304" charset="0"/>
                <a:sym typeface="Plus Jakarta Sans"/>
              </a:rPr>
              <a:t>Cảm ơn Thầy Cô và các bạn đã chú ý lắng nghe bài báo cáo!</a:t>
            </a:r>
            <a:endParaRPr lang="en-US" sz="2000" b="0" i="0" u="none" strike="noStrike" cap="none">
              <a:solidFill>
                <a:srgbClr val="8C7355"/>
              </a:solidFill>
              <a:latin typeface="Times New Roman" panose="02020603050405020304" charset="0"/>
              <a:ea typeface="Plus Jakarta Sans"/>
              <a:cs typeface="Times New Roman" panose="02020603050405020304" charset="0"/>
              <a:sym typeface="Plus Jakarta Sans"/>
            </a:endParaRPr>
          </a:p>
        </p:txBody>
      </p:sp>
    </p:spTree>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f"/>
  <p:tag name="KSO_WM_UNIT_SUBTYPE" val="g"/>
  <p:tag name="KSO_WM_UNIT_INDEX" val="3"/>
  <p:tag name="KSO_WM_BEAUTIFY_FLAG" val="#wm#"/>
  <p:tag name="KSO_WM_TAG_VERSION" val="3.0"/>
  <p:tag name="KSO_WM_UNIT_PRESET_TEXT" val="公司名"/>
  <p:tag name="KSO_WM_UNIT_ID" val="_1*f*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1"/>
</p:tagLst>
</file>

<file path=ppt/tags/tag12.xml><?xml version="1.0" encoding="utf-8"?>
<p:tagLst xmlns:p="http://schemas.openxmlformats.org/presentationml/2006/main">
  <p:tag name="KSO_WM_UNIT_TYPE" val="f"/>
  <p:tag name="KSO_WM_UNIT_SUBTYPE" val="e"/>
  <p:tag name="KSO_WM_UNIT_INDEX" val="2"/>
  <p:tag name="KSO_WM_BEAUTIFY_FLAG" val="#wm#"/>
  <p:tag name="KSO_WM_TAG_VERSION" val="3.0"/>
  <p:tag name="KSO_WM_UNIT_PRESET_TEXT" val="年号"/>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1"/>
</p:tagLst>
</file>

<file path=ppt/tags/tag1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4"/>
</p:tagLst>
</file>

<file path=ppt/tags/tag14.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4"/>
</p:tagLst>
</file>

<file path=ppt/tags/tag15.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1"/>
</p:tagLst>
</file>

<file path=ppt/tags/tag16.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132"/>
</p:tagLst>
</file>

<file path=ppt/tags/tag20.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40"/>
  <p:tag name="KSO_WM_TEMPLATE_CATEGORY" val="custom"/>
  <p:tag name="KSO_WM_TEMPLATE_INDEX" val="20238132"/>
</p:tagLst>
</file>

<file path=ppt/tags/tag2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TEMPLATE_THUMBS_INDEX" val="1、9"/>
  <p:tag name="KSO_WM_TEMPLATE_SUBCATEGORY" val="29"/>
  <p:tag name="KSO_WM_TEMPLATE_COLOR_TYPE" val="0"/>
  <p:tag name="KSO_WM_TAG_VERSION" val="3.0"/>
  <p:tag name="KSO_WM_BEAUTIFY_FLAG" val="#wm#"/>
  <p:tag name="KSO_WM_TEMPLATE_INDEX" val="20238132"/>
  <p:tag name="KSO_WM_TEMPLATE_CATEGORY" val="custom"/>
  <p:tag name="KSO_WM_TEMPLATE_MASTER_TYPE" val="0"/>
  <p:tag name="KSO_WM_SPECIAL_SOURCE" val="bdnull"/>
</p:tagLst>
</file>

<file path=ppt/tags/tag25.xml><?xml version="1.0" encoding="utf-8"?>
<p:tagLst xmlns:p="http://schemas.openxmlformats.org/presentationml/2006/main">
  <p:tag name="KSO_WM_UNIT_TYPE" val="a"/>
  <p:tag name="KSO_WM_UNIT_INDEX" val="1"/>
  <p:tag name="KSO_WM_BEAUTIFY_FLAG" val="#wm#"/>
  <p:tag name="KSO_WM_TAG_VERSION" val="3.0"/>
  <p:tag name="KSO_WM_UNIT_ID" val="custom20238132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132"/>
  <p:tag name="KSO_WM_TEMPLATE_CATEGORY" val="custom"/>
  <p:tag name="KSO_WM_UNIT_ISCONTENTSTITLE" val="0"/>
  <p:tag name="KSO_WM_UNIT_VALUE" val="24"/>
  <p:tag name="KSO_WM_UNIT_PRESET_TEXT" val="The title goes here"/>
</p:tagLst>
</file>

<file path=ppt/tags/tag26.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132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132"/>
  <p:tag name="KSO_WM_TEMPLATE_CATEGORY" val="custom"/>
  <p:tag name="KSO_WM_UNIT_VALUE" val="11"/>
  <p:tag name="KSO_WM_UNIT_PRESET_TEXT" val="Name"/>
</p:tagLst>
</file>

<file path=ppt/tags/tag27.xml><?xml version="1.0" encoding="utf-8"?>
<p:tagLst xmlns:p="http://schemas.openxmlformats.org/presentationml/2006/main">
  <p:tag name="KSO_WM_TEMPLATE_THUMBS_INDEX" val="1、9"/>
  <p:tag name="KSO_WM_SLIDE_TYPE" val="title"/>
  <p:tag name="KSO_WM_TEMPLATE_SUBCATEGORY" val="29"/>
  <p:tag name="KSO_WM_TEMPLATE_COLOR_TYPE" val="0"/>
  <p:tag name="KSO_WM_TAG_VERSION" val="3.0"/>
  <p:tag name="KSO_WM_SLIDE_SUBTYPE" val="pureTxt"/>
  <p:tag name="KSO_WM_SLIDE_ITEM_CNT" val="0"/>
  <p:tag name="KSO_WM_BEAUTIFY_FLAG" val="#wm#"/>
  <p:tag name="KSO_WM_TEMPLATE_INDEX" val="20238132"/>
  <p:tag name="KSO_WM_TEMPLATE_CATEGORY" val="custom"/>
  <p:tag name="KSO_WM_SLIDE_INDEX" val="1"/>
  <p:tag name="KSO_WM_SLIDE_ID" val="custom20238132_1"/>
  <p:tag name="KSO_WM_TEMPLATE_MASTER_TYPE" val="0"/>
  <p:tag name="KSO_WM_SLIDE_LAYOUT" val="a_b_f"/>
  <p:tag name="KSO_WM_SLIDE_LAYOUT_CNT" val="1_1_3"/>
  <p:tag name="KSO_WM_SPECIAL_SOURCE" val="bdnull"/>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0318-1">
      <a:dk1>
        <a:srgbClr val="333333"/>
      </a:dk1>
      <a:lt1>
        <a:sysClr val="window" lastClr="FFFFFF"/>
      </a:lt1>
      <a:dk2>
        <a:srgbClr val="0B1427"/>
      </a:dk2>
      <a:lt2>
        <a:srgbClr val="FFE6D0"/>
      </a:lt2>
      <a:accent1>
        <a:srgbClr val="FFB06A"/>
      </a:accent1>
      <a:accent2>
        <a:srgbClr val="F98069"/>
      </a:accent2>
      <a:accent3>
        <a:srgbClr val="EA5E4B"/>
      </a:accent3>
      <a:accent4>
        <a:srgbClr val="C5CFF2"/>
      </a:accent4>
      <a:accent5>
        <a:srgbClr val="758FCE"/>
      </a:accent5>
      <a:accent6>
        <a:srgbClr val="5177CB"/>
      </a:accent6>
      <a:hlink>
        <a:srgbClr val="0026E5"/>
      </a:hlink>
      <a:folHlink>
        <a:srgbClr val="7E1FAD"/>
      </a:folHlink>
    </a:clrScheme>
    <a:fontScheme name="简约风">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rmAutofit fontScale="92500" lnSpcReduction="20000"/>
      </a:bodyPr>
      <a:lstStyle>
        <a:defPPr algn="l">
          <a:lnSpc>
            <a:spcPct val="140000"/>
          </a:lnSpc>
          <a:defRPr sz="24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13508</Words>
  <Application>WPS Presentation</Application>
  <PresentationFormat/>
  <Paragraphs>576</Paragraphs>
  <Slides>38</Slides>
  <Notes>0</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38</vt:i4>
      </vt:variant>
    </vt:vector>
  </HeadingPairs>
  <TitlesOfParts>
    <vt:vector size="58" baseType="lpstr">
      <vt:lpstr>Arial</vt:lpstr>
      <vt:lpstr>SimSun</vt:lpstr>
      <vt:lpstr>Wingdings</vt:lpstr>
      <vt:lpstr>Arial</vt:lpstr>
      <vt:lpstr>Calibri</vt:lpstr>
      <vt:lpstr>Times New Roman</vt:lpstr>
      <vt:lpstr>Plus Jakarta Sans SemiBold</vt:lpstr>
      <vt:lpstr>Playfair Display</vt:lpstr>
      <vt:lpstr>Playfair Display SemiBold</vt:lpstr>
      <vt:lpstr>Plus Jakarta Sans</vt:lpstr>
      <vt:lpstr>Microsoft YaHei</vt:lpstr>
      <vt:lpstr>Arial Unicode MS</vt:lpstr>
      <vt:lpstr>江城圆体 400W</vt:lpstr>
      <vt:lpstr>Inter</vt:lpstr>
      <vt:lpstr>Segoe Print</vt:lpstr>
      <vt:lpstr>Inter Bold</vt:lpstr>
      <vt:lpstr>Lato</vt:lpstr>
      <vt:lpstr>Manrope ExtraBold</vt:lpstr>
      <vt:lpstr>Office Theme</vt:lpstr>
      <vt:lpstr>1_Office Theme</vt:lpstr>
      <vt:lpstr>PowerPoint 演示文稿</vt:lpstr>
      <vt:lpstr>Nhóm 3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Việt Hoàng</cp:lastModifiedBy>
  <cp:revision>3</cp:revision>
  <dcterms:created xsi:type="dcterms:W3CDTF">2026-06-16T12:44:00Z</dcterms:created>
  <dcterms:modified xsi:type="dcterms:W3CDTF">2026-06-16T14:28:53Z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60F17049449945C49A1A3F017681A493_13</vt:lpwstr>
  </property>
</Properties>
</file>